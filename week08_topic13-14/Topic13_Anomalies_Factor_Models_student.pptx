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8" r:id="rId2"/>
    <p:sldId id="289" r:id="rId3"/>
    <p:sldId id="290" r:id="rId4"/>
    <p:sldId id="311" r:id="rId5"/>
    <p:sldId id="312" r:id="rId6"/>
    <p:sldId id="313" r:id="rId7"/>
    <p:sldId id="314" r:id="rId8"/>
    <p:sldId id="315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17" r:id="rId17"/>
    <p:sldId id="31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/>
    <p:restoredTop sz="71871"/>
  </p:normalViewPr>
  <p:slideViewPr>
    <p:cSldViewPr snapToGrid="0" snapToObjects="1">
      <p:cViewPr varScale="1">
        <p:scale>
          <a:sx n="116" d="100"/>
          <a:sy n="116" d="100"/>
        </p:scale>
        <p:origin x="2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test (|t| ≥ 1.96)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FM-OLS</c:v>
                </c:pt>
                <c:pt idx="1">
                  <c:v>FM-WLS</c:v>
                </c:pt>
                <c:pt idx="2">
                  <c:v>All-EW</c:v>
                </c:pt>
                <c:pt idx="3">
                  <c:v>All-VW</c:v>
                </c:pt>
                <c:pt idx="4">
                  <c:v>NYSE-EW</c:v>
                </c:pt>
                <c:pt idx="5">
                  <c:v>NYSE-VW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33.6</c:v>
                </c:pt>
                <c:pt idx="1">
                  <c:v>58.2</c:v>
                </c:pt>
                <c:pt idx="2">
                  <c:v>56.4</c:v>
                </c:pt>
                <c:pt idx="3">
                  <c:v>58.6</c:v>
                </c:pt>
                <c:pt idx="4">
                  <c:v>40.700000000000003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63-B047-BE8F-01EDC38442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Multiple test (|t| ≥ 2.78)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FM-OLS</c:v>
                </c:pt>
                <c:pt idx="1">
                  <c:v>FM-WLS</c:v>
                </c:pt>
                <c:pt idx="2">
                  <c:v>All-EW</c:v>
                </c:pt>
                <c:pt idx="3">
                  <c:v>All-VW</c:v>
                </c:pt>
                <c:pt idx="4">
                  <c:v>NYSE-EW</c:v>
                </c:pt>
                <c:pt idx="5">
                  <c:v>NYSE-VW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13.3</c:v>
                </c:pt>
                <c:pt idx="1">
                  <c:v>48.5</c:v>
                </c:pt>
                <c:pt idx="2">
                  <c:v>46.7</c:v>
                </c:pt>
                <c:pt idx="3">
                  <c:v>48</c:v>
                </c:pt>
                <c:pt idx="4">
                  <c:v>22.1</c:v>
                </c:pt>
                <c:pt idx="5">
                  <c:v>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63-B047-BE8F-01EDC38442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5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olab.research.google.com/github/Leonop/FINANCE-361-S1-2026/blob/main/week08_topic13-14/FIN361_Topic13_Anomalies_Factor_Models.ipynb#scrollTo=imports-cell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54864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Poppins"/>
              </a:rPr>
              <a:t>FINANCE 361 — Topic 13</a:t>
            </a:r>
            <a:endParaRPr lang="en-US" sz="1300" dirty="0">
              <a:latin typeface="Poppin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/>
              </a:rPr>
              <a:t>Anomalies and</a:t>
            </a:r>
            <a:endParaRPr lang="en-US" sz="4000" dirty="0">
              <a:latin typeface="Poppins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/>
              </a:rPr>
              <a:t>Factor Models</a:t>
            </a:r>
            <a:endParaRPr lang="en-US" sz="4000" dirty="0">
              <a:latin typeface="Poppi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280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4F7"/>
                </a:solidFill>
                <a:latin typeface="Times New Roman"/>
              </a:rPr>
              <a:t>The CAPM failed empirically. What replaced it — and does the replacement hold up?</a:t>
            </a:r>
            <a:endParaRPr lang="en-US" sz="125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FC0"/>
                </a:solidFill>
                <a:latin typeface="Times New Roman"/>
              </a:rPr>
              <a:t>Dr. Zicheng (Leo) Xiao  ·  University of Auckland  ·  FINANCE 361: Modern Investment Theory</a:t>
            </a:r>
            <a:endParaRPr lang="en-US" sz="9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587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What Are We Doing Today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Topic 13 · Readings: Hou, Xue &amp; Zhang (2018); Harvey, Liu &amp; Zhu (2016); Geertsema &amp; Lu (2020)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/>
              </a:rPr>
              <a:t>01</a:t>
            </a:r>
            <a:endParaRPr lang="en-US" sz="1500" dirty="0">
              <a:latin typeface="Poppi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120700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Poppins"/>
              </a:rPr>
              <a:t>Factor Models</a:t>
            </a:r>
            <a:endParaRPr lang="en-US" sz="1400" dirty="0">
              <a:latin typeface="Poppin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7320" y="15727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Survey the main benchmark models used in empirical asset pricing — from CAPM to the 5-factor models competing for dominance today.</a:t>
            </a:r>
            <a:endParaRPr lang="en-US" sz="1100" dirty="0">
              <a:latin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/>
              </a:rPr>
              <a:t>02</a:t>
            </a:r>
            <a:endParaRPr lang="en-US" sz="1500" dirty="0">
              <a:latin typeface="Poppin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24414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Poppins"/>
              </a:rPr>
              <a:t>Anomalies</a:t>
            </a:r>
            <a:endParaRPr lang="en-US" sz="1400" dirty="0">
              <a:latin typeface="Poppin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17320" y="28072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Understand what an "anomaly" is: a sorted portfolio strategy that earns positive risk-adjusted returns unexplained by standard benchmark models.</a:t>
            </a:r>
            <a:endParaRPr lang="en-US" sz="11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/>
              </a:rPr>
              <a:t>03</a:t>
            </a:r>
            <a:endParaRPr lang="en-US" sz="1500" dirty="0">
              <a:latin typeface="Poppin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36758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Poppins"/>
              </a:rPr>
              <a:t>Replication Crisis</a:t>
            </a:r>
            <a:endParaRPr lang="en-US" sz="1400" dirty="0">
              <a:latin typeface="Poppin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17320" y="404164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Critically assess Hou, Xue &amp; Zhang (2018): most published anomalies do not survive rigorous replication. Understand why — and what standards are required.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306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Fama-French 3-Factor Model (FF3)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Fama &amp; French (1993) — the dominant successor to the CAPM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Poppi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06040" cy="203319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06040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MKTRF</a:t>
            </a:r>
            <a:endParaRPr lang="en-US" sz="1400" dirty="0">
              <a:latin typeface="Poppin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Market Excess Return</a:t>
            </a:r>
            <a:endParaRPr lang="en-US" sz="1400" dirty="0">
              <a:latin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5786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Times New Roman"/>
              </a:rPr>
              <a:t>The single CAPM factor. Return of the market portfolio minus the risk-free rate. Present in every benchmark model.</a:t>
            </a:r>
            <a:endParaRPr lang="en-US" sz="120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73552" y="1828800"/>
            <a:ext cx="2606040" cy="203319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1828800"/>
            <a:ext cx="26060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SMB</a:t>
            </a:r>
            <a:endParaRPr lang="en-US" sz="1400" dirty="0">
              <a:latin typeface="Poppin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10712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Small Minus Big</a:t>
            </a:r>
            <a:endParaRPr lang="en-US" sz="1400" dirty="0">
              <a:latin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10712" y="25786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Times New Roman"/>
              </a:rPr>
              <a:t>Long small-cap stocks, short large-cap stocks. Captures the size premium — small firms earn higher average returns.</a:t>
            </a:r>
            <a:endParaRPr lang="en-US" sz="12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89904" y="1828800"/>
            <a:ext cx="2606040" cy="203319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1828800"/>
            <a:ext cx="2606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9904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HML</a:t>
            </a:r>
            <a:endParaRPr lang="en-US" sz="1400" dirty="0">
              <a:latin typeface="Poppin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27064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High Minus Low (B/M)</a:t>
            </a:r>
            <a:endParaRPr lang="en-US" sz="1400" dirty="0">
              <a:latin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27064" y="25786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Times New Roman"/>
              </a:rPr>
              <a:t>Long value stocks (high book-to-market), short growth stocks (low B/M). Captures the value premium.</a:t>
            </a:r>
            <a:endParaRPr lang="en-US" sz="1200" dirty="0">
              <a:latin typeface="Times New Roman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216998"/>
            <a:ext cx="8229600" cy="793914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216998"/>
            <a:ext cx="45720" cy="79391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362495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400E"/>
                </a:solidFill>
                <a:latin typeface="Times New Roman"/>
              </a:rPr>
              <a:t>⚠  Unlike the CAPM, FF3 is not derived from economic theory. It is purely empirical. Whether SMB and HML represent risk compensation or mispricing remains deeply contested.</a:t>
            </a:r>
            <a:endParaRPr lang="en-US" sz="1400" dirty="0">
              <a:latin typeface="Times New Roman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A79A340-FF9A-253E-4FB0-83E7F3EB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44" y="1045838"/>
            <a:ext cx="5102352" cy="57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7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Extending FF3 — The Carhart 4-Factor Model (FFC4)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Carhart (1997) — adds momentum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42183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Poppins"/>
              </a:rPr>
              <a:t>UMD — Up Minus Down (Momentum)</a:t>
            </a:r>
            <a:endParaRPr lang="en-US" sz="1400" dirty="0">
              <a:latin typeface="Poppin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200805"/>
            <a:ext cx="7772400" cy="58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Times New Roman"/>
              </a:rPr>
              <a:t>Long recent winners (past 12–2 months return), short recent losers. The momentum effect — introduced by Jegadeesh &amp; Titman (1993) — is one of the most robust anomalies: stocks that performed well recently continue to outperform for the next 3–12 months.</a:t>
            </a:r>
            <a:endParaRPr lang="en-US" sz="1200" dirty="0">
              <a:latin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10494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📌 Note</a:t>
            </a:r>
            <a:endParaRPr lang="en-US" sz="1400" dirty="0">
              <a:latin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44728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Times New Roman"/>
              </a:rPr>
              <a:t>SMB and HML use a two-way sort: stocks are independently sorted by size (2 groups) and book-to-market (3 groups), creating 6 intersection portfolios. The factors are weighted averages across these 6 sub-portfolios.</a:t>
            </a:r>
            <a:endParaRPr lang="en-US" sz="12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3977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14464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🔑  Key Point</a:t>
            </a:r>
            <a:endParaRPr lang="en-US" sz="1400" dirty="0">
              <a:latin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Times New Roman"/>
              </a:rPr>
              <a:t>UMD has no consensus risk-based interpretation — yet features in multiple benchmark models. If you can't beat an anomaly, co-opt it into your benchmark. This is a recurring pattern in the "benchmark wars".</a:t>
            </a:r>
            <a:endParaRPr lang="en-US" sz="1200" dirty="0">
              <a:latin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A37AA6-F1B6-B6C9-697D-6DCC1BA67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75625"/>
            <a:ext cx="7772400" cy="50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0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The Benchmark Wars — A Timeline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From CAPM to q5: the race to explain the cross-section of returns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1005840"/>
            <a:ext cx="0" cy="39319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1069848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" y="1033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Times New Roman"/>
              </a:rPr>
              <a:t>1964 / 1972</a:t>
            </a:r>
            <a:endParaRPr lang="en-US" sz="75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960120"/>
            <a:ext cx="7360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7320" y="960120"/>
            <a:ext cx="54864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00200" y="996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CAPM</a:t>
            </a:r>
            <a:endParaRPr lang="en-US" sz="1100" dirty="0">
              <a:latin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00200" y="1271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/>
              </a:rPr>
              <a:t>1 factor</a:t>
            </a:r>
            <a:endParaRPr lang="en-US" sz="800" dirty="0">
              <a:latin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0" y="10332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Times New Roman"/>
              </a:rPr>
              <a:t>Market excess return (MKTRF) only. Theoretically grounded. Empirically poor.</a:t>
            </a:r>
            <a:endParaRPr lang="en-US" sz="95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24128" y="17373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" y="1700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Times New Roman"/>
              </a:rPr>
              <a:t>1993</a:t>
            </a:r>
            <a:endParaRPr lang="en-US" sz="75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17320" y="1627632"/>
            <a:ext cx="7360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17320" y="1627632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002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FF3</a:t>
            </a:r>
            <a:endParaRPr lang="en-US" sz="1100" dirty="0">
              <a:latin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00200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Times New Roman"/>
              </a:rPr>
              <a:t>3 factors</a:t>
            </a:r>
            <a:endParaRPr lang="en-US" sz="800" dirty="0">
              <a:latin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170078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Times New Roman"/>
              </a:rPr>
              <a:t>Adds SMB (size) + HML (value). Purely empirical. Dominant for 20+ years.</a:t>
            </a:r>
            <a:endParaRPr lang="en-US" sz="950" dirty="0">
              <a:latin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24128" y="240487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" y="2368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Times New Roman"/>
              </a:rPr>
              <a:t>1997</a:t>
            </a:r>
            <a:endParaRPr lang="en-US" sz="750" dirty="0">
              <a:latin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417320" y="2295144"/>
            <a:ext cx="7360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417320" y="2295144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0020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FFC4 (Carhart)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00200" y="2606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Times New Roman"/>
              </a:rPr>
              <a:t>4 factors</a:t>
            </a:r>
            <a:endParaRPr lang="en-US" sz="800" dirty="0">
              <a:latin typeface="Times New Roman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0" y="23682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Times New Roman"/>
              </a:rPr>
              <a:t>Adds UMD (momentum). No risk-based interpretation for momentum.</a:t>
            </a:r>
            <a:endParaRPr lang="en-US" sz="950" dirty="0">
              <a:latin typeface="Times New Roman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24128" y="307238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Times New Roman"/>
              </a:rPr>
              <a:t>2015 (HXZ)</a:t>
            </a:r>
            <a:endParaRPr lang="en-US" sz="750" dirty="0">
              <a:latin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417320" y="2962656"/>
            <a:ext cx="7360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17320" y="2962656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0020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HXZ4 q-factor</a:t>
            </a:r>
            <a:endParaRPr lang="en-US" sz="1100" dirty="0">
              <a:latin typeface="Times New Roman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00200" y="3273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/>
              </a:rPr>
              <a:t>4 factors</a:t>
            </a:r>
            <a:endParaRPr lang="en-US" sz="800" dirty="0">
              <a:latin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14800" y="303580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Times New Roman"/>
              </a:rPr>
              <a:t>Drops HML. Adds I/A (investment) + ROE (profitability). Theory-grounded.</a:t>
            </a:r>
            <a:endParaRPr lang="en-US" sz="950" dirty="0">
              <a:latin typeface="Times New Roman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24128" y="373989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Times New Roman"/>
              </a:rPr>
              <a:t>2015 (FF)</a:t>
            </a:r>
            <a:endParaRPr lang="en-US" sz="750" dirty="0">
              <a:latin typeface="Times New Roman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417320" y="3630168"/>
            <a:ext cx="7360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17320" y="3630168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00200" y="3666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FF5</a:t>
            </a:r>
            <a:endParaRPr lang="en-US" sz="1100" dirty="0">
              <a:latin typeface="Times New Roman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600200" y="3941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Times New Roman"/>
              </a:rPr>
              <a:t>5 factors</a:t>
            </a:r>
            <a:endParaRPr lang="en-US" sz="800" dirty="0">
              <a:latin typeface="Times New Roman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114800" y="37033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Times New Roman"/>
              </a:rPr>
              <a:t>Keeps HML + adds CMA (investment) + RMW (profitability). Purely empirical.</a:t>
            </a:r>
            <a:endParaRPr lang="en-US" sz="950" dirty="0">
              <a:latin typeface="Times New Roman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24128" y="4407408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" y="4370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Times New Roman"/>
              </a:rPr>
              <a:t>2018 / 2020</a:t>
            </a:r>
            <a:endParaRPr lang="en-US" sz="750" dirty="0">
              <a:latin typeface="Times New Roman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417320" y="4297680"/>
            <a:ext cx="7360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17320" y="4297680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00200" y="4334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FF6 &amp; q5</a:t>
            </a:r>
            <a:endParaRPr lang="en-US" sz="1100" dirty="0">
              <a:latin typeface="Times New Roman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600200" y="46085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/>
                </a:solidFill>
                <a:latin typeface="Times New Roman"/>
              </a:rPr>
              <a:t>5–6 factors</a:t>
            </a:r>
            <a:endParaRPr lang="en-US" sz="800" dirty="0">
              <a:latin typeface="Times New Roman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114800" y="43708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Times New Roman"/>
              </a:rPr>
              <a:t>FF adds UMD. HXZ adds ΔROEᵉ (expected profitability growth). Arms race continues.</a:t>
            </a:r>
            <a:endParaRPr lang="en-US" sz="95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102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Factor Model Comparison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Which factors appear in each benchmark model?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71800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971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Factor</a:t>
            </a:r>
            <a:endParaRPr lang="en-US" sz="900" dirty="0">
              <a:latin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CAPM</a:t>
            </a:r>
            <a:endParaRPr lang="en-US" sz="900" dirty="0">
              <a:latin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78224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78224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FF3</a:t>
            </a:r>
            <a:endParaRPr lang="en-US" sz="900" dirty="0">
              <a:latin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10328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FFC4</a:t>
            </a:r>
            <a:endParaRPr lang="en-US" sz="90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42432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42432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HXZ4</a:t>
            </a:r>
            <a:endParaRPr lang="en-US" sz="9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74536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74536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FF5</a:t>
            </a:r>
            <a:endParaRPr lang="en-US" sz="9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06640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FF6</a:t>
            </a:r>
            <a:endParaRPr lang="en-US" sz="900" dirty="0">
              <a:latin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38744" y="1005840"/>
            <a:ext cx="832104" cy="365760"/>
          </a:xfrm>
          <a:prstGeom prst="rect">
            <a:avLst/>
          </a:prstGeom>
          <a:solidFill>
            <a:srgbClr val="1A2C5B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38744" y="1005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/>
              </a:rPr>
              <a:t>q5</a:t>
            </a:r>
            <a:endParaRPr lang="en-US" sz="900" dirty="0">
              <a:latin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1371600"/>
            <a:ext cx="2971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3716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MKTRF — Market excess return</a:t>
            </a:r>
            <a:endParaRPr lang="en-US" sz="850" dirty="0">
              <a:latin typeface="Times New Roman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46120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78224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78224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10328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42432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42432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74536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4536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06640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06640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38744" y="1371600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38744" y="137160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1700784"/>
            <a:ext cx="2971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170078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SMB — Size (Small Minus Big)</a:t>
            </a:r>
            <a:endParaRPr lang="en-US" sz="850" dirty="0">
              <a:latin typeface="Times New Roman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46120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46120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078224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78224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910328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10328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742432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42432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574536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74536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406640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06640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38744" y="1700784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238744" y="170078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74320" y="2029968"/>
            <a:ext cx="2971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20299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HML — Value (High Minus Low B/M)</a:t>
            </a:r>
            <a:endParaRPr lang="en-US" sz="850" dirty="0">
              <a:latin typeface="Times New Roman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246120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46120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078224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078224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910328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10328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742432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742432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574536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74536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406640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06640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238744" y="2029968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238744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74320" y="2359152"/>
            <a:ext cx="2971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65760" y="23591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UMD — Momentum (Up Minus Down)</a:t>
            </a:r>
            <a:endParaRPr lang="en-US" sz="850" dirty="0">
              <a:latin typeface="Times New Roman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3246120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246120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4078224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078224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910328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910328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742432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742432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6574536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574536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406640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406640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✓</a:t>
            </a:r>
            <a:endParaRPr lang="en-US" sz="1100" dirty="0">
              <a:latin typeface="Times New Roman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238744" y="2359152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38744" y="235915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74320" y="2688336"/>
            <a:ext cx="2971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65760" y="268833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I/A — Investment (HXZ)</a:t>
            </a:r>
            <a:endParaRPr lang="en-US" sz="850" dirty="0">
              <a:latin typeface="Times New Roman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246120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246120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4078224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078224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4910328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910328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5742432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742432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574536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574536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406640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406640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8238744" y="2688336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238744" y="268833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274320" y="3017520"/>
            <a:ext cx="2971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365760" y="30175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ROE — Profitability (HXZ)</a:t>
            </a:r>
            <a:endParaRPr lang="en-US" sz="850" dirty="0">
              <a:latin typeface="Times New Roman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3246120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246120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4078224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078224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4910328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4910328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5742432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742432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6574536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574536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7406640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7406640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8238744" y="3017520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8238744" y="30175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274320" y="3346704"/>
            <a:ext cx="2971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65760" y="334670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CMA — Investment (FF)</a:t>
            </a:r>
            <a:endParaRPr lang="en-US" sz="850" dirty="0">
              <a:latin typeface="Times New Roman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3246120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3246120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4078224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4078224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4910328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4910328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5742432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742432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6574536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574536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7406640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406640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8238744" y="3346704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8238744" y="3346704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274320" y="3675888"/>
            <a:ext cx="2971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365760" y="36758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RMW — Profitability (FF)</a:t>
            </a:r>
            <a:endParaRPr lang="en-US" sz="850" dirty="0">
              <a:latin typeface="Times New Roman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3246120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246120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4078224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4078224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4910328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4910328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5742432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742432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6574536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574536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7406640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7406640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8238744" y="3675888"/>
            <a:ext cx="832104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8238744" y="367588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274320" y="4005072"/>
            <a:ext cx="2971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365760" y="40050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5B"/>
                </a:solidFill>
                <a:latin typeface="Times New Roman"/>
              </a:rPr>
              <a:t>ΔROEᵉ — Expected profit. growth</a:t>
            </a:r>
            <a:endParaRPr lang="en-US" sz="850" dirty="0">
              <a:latin typeface="Times New Roman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3246120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3246120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53" name="Shape 151"/>
          <p:cNvSpPr/>
          <p:nvPr/>
        </p:nvSpPr>
        <p:spPr>
          <a:xfrm>
            <a:off x="4078224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4078224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4910328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4910328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57" name="Shape 155"/>
          <p:cNvSpPr/>
          <p:nvPr/>
        </p:nvSpPr>
        <p:spPr>
          <a:xfrm>
            <a:off x="5742432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5742432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6574536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6574536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7406640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7406640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Times New Roman"/>
              </a:rPr>
              <a:t>—</a:t>
            </a:r>
            <a:endParaRPr lang="en-US" sz="900" dirty="0">
              <a:latin typeface="Times New Roman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8238744" y="4005072"/>
            <a:ext cx="832104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8238744" y="4005072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/>
              </a:rPr>
              <a:t>✦</a:t>
            </a:r>
            <a:endParaRPr lang="en-US" sz="1100" dirty="0">
              <a:latin typeface="Times New Roman"/>
            </a:endParaRPr>
          </a:p>
        </p:txBody>
      </p:sp>
      <p:sp>
        <p:nvSpPr>
          <p:cNvPr id="165" name="Shape 163"/>
          <p:cNvSpPr/>
          <p:nvPr/>
        </p:nvSpPr>
        <p:spPr>
          <a:xfrm>
            <a:off x="274320" y="4334256"/>
            <a:ext cx="2971800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365760" y="433425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C5B"/>
                </a:solidFill>
                <a:latin typeface="Times New Roman"/>
              </a:rPr>
              <a:t>Total factors</a:t>
            </a:r>
            <a:endParaRPr lang="en-US" sz="850" dirty="0">
              <a:latin typeface="Times New Roman"/>
            </a:endParaRPr>
          </a:p>
        </p:txBody>
      </p:sp>
      <p:sp>
        <p:nvSpPr>
          <p:cNvPr id="167" name="Shape 165"/>
          <p:cNvSpPr/>
          <p:nvPr/>
        </p:nvSpPr>
        <p:spPr>
          <a:xfrm>
            <a:off x="3246120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3246120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1</a:t>
            </a:r>
            <a:endParaRPr lang="en-US" sz="1000" dirty="0">
              <a:latin typeface="Times New Roman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4078224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4078224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3</a:t>
            </a:r>
            <a:endParaRPr lang="en-US" sz="1000" dirty="0">
              <a:latin typeface="Times New Roman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4910328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4910328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4</a:t>
            </a:r>
            <a:endParaRPr lang="en-US" sz="1000" dirty="0">
              <a:latin typeface="Times New Roman"/>
            </a:endParaRPr>
          </a:p>
        </p:txBody>
      </p:sp>
      <p:sp>
        <p:nvSpPr>
          <p:cNvPr id="173" name="Shape 171"/>
          <p:cNvSpPr/>
          <p:nvPr/>
        </p:nvSpPr>
        <p:spPr>
          <a:xfrm>
            <a:off x="5742432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5742432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4</a:t>
            </a:r>
            <a:endParaRPr lang="en-US" sz="1000" dirty="0">
              <a:latin typeface="Times New Roman"/>
            </a:endParaRPr>
          </a:p>
        </p:txBody>
      </p:sp>
      <p:sp>
        <p:nvSpPr>
          <p:cNvPr id="175" name="Shape 173"/>
          <p:cNvSpPr/>
          <p:nvPr/>
        </p:nvSpPr>
        <p:spPr>
          <a:xfrm>
            <a:off x="6574536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6574536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5</a:t>
            </a:r>
            <a:endParaRPr lang="en-US" sz="1000" dirty="0">
              <a:latin typeface="Times New Roman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7406640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7406640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6</a:t>
            </a:r>
            <a:endParaRPr lang="en-US" sz="1000" dirty="0">
              <a:latin typeface="Times New Roman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8238744" y="4334256"/>
            <a:ext cx="832104" cy="329184"/>
          </a:xfrm>
          <a:prstGeom prst="rect">
            <a:avLst/>
          </a:prstGeom>
          <a:solidFill>
            <a:srgbClr val="F8F4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8238744" y="4334256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  <a:latin typeface="Times New Roman"/>
              </a:rPr>
              <a:t>5</a:t>
            </a:r>
            <a:endParaRPr lang="en-US" sz="1000" dirty="0">
              <a:latin typeface="Times New Roman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/>
              </a:rPr>
              <a:t>✓ = factor from predecessor model   ✦ = new factor added in this model   — = not included</a:t>
            </a:r>
            <a:endParaRPr lang="en-US" sz="85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513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579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HXZ4 vs. FF5 — Similar Solutions, Different Philosophy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58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Both address FF3's gaps on investment &amp; profitability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HXZ4 — q-Factor Model</a:t>
            </a:r>
            <a:endParaRPr lang="en-US" sz="120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374904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457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latin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066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Drops HML entirely</a:t>
            </a:r>
            <a:endParaRPr lang="en-US" sz="100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Motivated by the investment CAPM (theoretical foundation)</a:t>
            </a:r>
            <a:endParaRPr lang="en-US" sz="10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I/A and ROE replace HML's explanatory role</a:t>
            </a:r>
            <a:endParaRPr lang="en-US" sz="10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Appears to have the edge in explaining anomalies</a:t>
            </a:r>
            <a:endParaRPr lang="en-US" sz="1000" dirty="0">
              <a:latin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FF5 — 5-Factor Model</a:t>
            </a:r>
            <a:endParaRPr lang="en-US" sz="1200" dirty="0">
              <a:latin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92040" y="1481328"/>
            <a:ext cx="3749040" cy="43891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92040" y="1481328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latin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92040" y="20848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2066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Keeps HML "for continuity", despite it adding little</a:t>
            </a:r>
            <a:endParaRPr lang="en-US" sz="1000" dirty="0">
              <a:latin typeface="Times New Roman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92040" y="246888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Still purely empirical — no theoretical foundation</a:t>
            </a:r>
            <a:endParaRPr lang="en-US" sz="1000" dirty="0">
              <a:latin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92040" y="285292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CMA ≈ I/A and RMW ≈ ROE in different notation</a:t>
            </a:r>
            <a:endParaRPr lang="en-US" sz="1000" dirty="0">
              <a:latin typeface="Times New Roman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92040" y="323697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/>
              </a:rPr>
              <a:t>Currently the dominant benchmark in academic journals</a:t>
            </a:r>
            <a:endParaRPr lang="en-US" sz="1000" dirty="0">
              <a:latin typeface="Times New Roman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FFF1F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3977640"/>
            <a:ext cx="4572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0599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Times New Roman"/>
              </a:rPr>
              <a:t>🔑  Key Point</a:t>
            </a:r>
            <a:endParaRPr lang="en-US" sz="1400" dirty="0">
              <a:latin typeface="Times New Roman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640" y="43342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Times New Roman"/>
              </a:rPr>
              <a:t>Both models target average realised returns, but realised ≠ expected returns. To explain cross-sectional return patterns → use FF5 or HXZ. To estimate required returns for valuation or corporate finance → the CAPM (with all its flaws) remains the most defensible starting point.</a:t>
            </a:r>
            <a:endParaRPr lang="en-US" sz="1100" dirty="0">
              <a:latin typeface="Times New Roman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FDF701B-30E6-6C3E-8581-12831410F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20" y="1483989"/>
            <a:ext cx="2462530" cy="43167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F5A07D3-EEF1-EF79-3379-8B2267B79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688" y="1484768"/>
            <a:ext cx="3074670" cy="42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6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What Is an Anomaly?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Times New Roman"/>
              </a:rPr>
              <a:t>Section 5 — The embarrassment of riches</a:t>
            </a:r>
            <a:endParaRPr lang="en-US" sz="12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0424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/>
              </a:rPr>
              <a:t>Modern Definition</a:t>
            </a:r>
            <a:endParaRPr lang="en-US" sz="14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Times New Roman"/>
              </a:rPr>
              <a:t>A sorted portfolio strategy that earns positive risk-adjusted returns even after controlling for standard benchmark models (CAPM, FF3, or FF5). Evidence that some characteristic x predicts returns in a way that existing models cannot explain.</a:t>
            </a:r>
            <a:endParaRPr lang="en-US" sz="1100" dirty="0">
              <a:latin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An "anomaly" can refer to three distinct things:</a:t>
            </a:r>
            <a:endParaRPr lang="en-US" sz="11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1</a:t>
            </a:r>
            <a:endParaRPr lang="en-US" sz="1400" dirty="0">
              <a:latin typeface="Poppin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24368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A Firm-Level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Characteristic</a:t>
            </a:r>
            <a:endParaRPr lang="en-US" sz="1400" dirty="0">
              <a:latin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0220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e.g. profitability, asset growth, accruals. Used to construct the sorting variable in a sorted portfolio study.</a:t>
            </a:r>
            <a:endParaRPr lang="en-US" sz="11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73552" y="2267712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10712" y="239572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2</a:t>
            </a:r>
            <a:endParaRPr lang="en-US" sz="1400" dirty="0">
              <a:latin typeface="Poppin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05072" y="24277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A Factor Loading /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Beta</a:t>
            </a:r>
            <a:endParaRPr lang="en-US" sz="1400" dirty="0">
              <a:latin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10712" y="30861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e.g. beta on market volatility or credit spread changes. The sorting variable is the estimated beta from a time-series regression.</a:t>
            </a:r>
            <a:endParaRPr lang="en-US" sz="1100" dirty="0">
              <a:latin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89904" y="2267712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27064" y="23957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2706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3</a:t>
            </a:r>
            <a:endParaRPr lang="en-US" sz="1400" dirty="0">
              <a:latin typeface="Poppin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89420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The Trading Strategy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Itself</a:t>
            </a:r>
            <a:endParaRPr lang="en-US" sz="1400" dirty="0">
              <a:latin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27064" y="29809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The 5M1 portfolio return series. Note: RMW is simultaneously an anomaly and a benchmark factor in FF5.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8229600" cy="9829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050792"/>
            <a:ext cx="45719" cy="9829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8564" y="411318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Times New Roman"/>
              </a:rPr>
              <a:t>💡 "If You Can't Beat Them, Co-opt Them"</a:t>
            </a:r>
            <a:endParaRPr lang="en-US" sz="1400" dirty="0">
              <a:latin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466575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Times New Roman"/>
              </a:rPr>
              <a:t>Most benchmark factors — SMB, HML, RMW, CMA, UMD — started life as anomalies. Researchers incorporated them into benchmark models, transforming "anomalies" into "risk factors". Ideally the factor has a risk-based interpretation, but this bar has become increasingly low.</a:t>
            </a:r>
            <a:endParaRPr lang="en-US" sz="12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203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The Anomaly Zoo — Harvey, Liu &amp; Zhu (2016)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Times New Roman"/>
              </a:rPr>
              <a:t>Hundreds of characteristics claimed to predict returns</a:t>
            </a:r>
            <a:endParaRPr lang="en-US" sz="12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EF2F2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7315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60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Times New Roman"/>
              </a:rPr>
              <a:t>Risk / Volatility</a:t>
            </a:r>
            <a:endParaRPr lang="en-US" sz="14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Total vol, Idiosyncratic vol, Distress risk, Beta², Downside risk, Coskewness, Jump beta, Credit rating</a:t>
            </a:r>
            <a:endParaRPr lang="en-US" sz="1100" dirty="0">
              <a:latin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BE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54864" cy="7315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865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imes New Roman"/>
              </a:rPr>
              <a:t>Value / Fundamentals</a:t>
            </a:r>
            <a:endParaRPr lang="en-US" sz="1200" dirty="0">
              <a:latin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Book-to-market, E/P, CF/P, Dividend yield, Firm size, Long-term reversal, Asset growth, R&amp;D capital</a:t>
            </a:r>
            <a:endParaRPr lang="en-US" sz="110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54864" cy="7315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70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Times New Roman"/>
              </a:rPr>
              <a:t>Momentum / Returns</a:t>
            </a:r>
            <a:endParaRPr lang="en-US" sz="1200" dirty="0">
              <a:latin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Momentum, 52-week high, Return reversal, Industry momentum, Time-series momentum, Earnings announce. return</a:t>
            </a:r>
            <a:endParaRPr lang="en-US" sz="11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5F3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54864" cy="7315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Times New Roman"/>
              </a:rPr>
              <a:t>Profitability / Quality</a:t>
            </a:r>
            <a:endParaRPr lang="en-US" sz="1200" dirty="0">
              <a:latin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Gross profitability, ROE, Accruals, Earnings quality, Org. capital, Earnings growth, DuPont analysis</a:t>
            </a:r>
            <a:endParaRPr lang="en-US" sz="1100" dirty="0">
              <a:latin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7ED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54864" cy="73152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Times New Roman"/>
              </a:rPr>
              <a:t>Trading / Liquidity</a:t>
            </a:r>
            <a:endParaRPr lang="en-US" sz="1200" dirty="0">
              <a:latin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Short interest, Illiquidity, Trading volume, Price delay, Bid-ask spread, Order imbalance, Short-sale constraints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50749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/>
              </a:rPr>
              <a:t>Selected anomalies from Harvey, Liu &amp; Zhu (2016) — the full paper documents 400+ factors. Scroll category for full list in the interactive HTML notes.</a:t>
            </a:r>
            <a:endParaRPr lang="en-US" sz="85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948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Are Anomalies Really Distinct? — Geertsema &amp; Lu (2020)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75996" y="59597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"The Correlation Structure of Anomaly Strategies" · Journal of Banking and Finance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C5B"/>
                </a:solidFill>
                <a:latin typeface="Times New Roman"/>
              </a:rPr>
              <a:t>Key question: are hundreds of anomalies truly independent, or do many measure the same underlying economic phenomenon?</a:t>
            </a:r>
            <a:endParaRPr lang="en-US" sz="1200" dirty="0">
              <a:latin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5022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Times New Roman"/>
              </a:rPr>
              <a:t>Method: Hierarchical Clustering</a:t>
            </a:r>
            <a:endParaRPr lang="en-US" sz="1200" dirty="0">
              <a:latin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Applied hierarchical clustering to the correlation matrix of anomaly strategy returns (monthly 5M1 time-series) to identify groups of strategies that move together.</a:t>
            </a:r>
            <a:endParaRPr lang="en-US" sz="1100" dirty="0">
              <a:latin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380128"/>
            <a:ext cx="26060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80128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4715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Poppins"/>
              </a:rPr>
              <a:t>0.57</a:t>
            </a:r>
            <a:endParaRPr lang="en-US" sz="2800" dirty="0">
              <a:latin typeface="Poppi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1573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Avg within-cluster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correlation</a:t>
            </a:r>
            <a:endParaRPr lang="en-US" sz="1400" dirty="0">
              <a:latin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49569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Anomalies within the same data-driven cluster largely move together — they likely pick up the same economic force.</a:t>
            </a:r>
            <a:endParaRPr lang="en-US" sz="1100" dirty="0">
              <a:latin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2369370"/>
            <a:ext cx="26060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73552" y="2369370"/>
            <a:ext cx="26060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64992" y="246081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Poppins"/>
              </a:rPr>
              <a:t>0.036</a:t>
            </a:r>
            <a:endParaRPr lang="en-US" sz="2800" dirty="0">
              <a:latin typeface="Poppin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64992" y="314661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Avg between-cluster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correlation</a:t>
            </a:r>
            <a:endParaRPr lang="en-US" sz="1400" dirty="0">
              <a:latin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64992" y="348493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Very different clusters are nearly uncorrelated — genuine economic diversity exists, but far fewer distinct forces than the zoo suggests.</a:t>
            </a:r>
            <a:endParaRPr lang="en-US" sz="1100" dirty="0">
              <a:latin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89904" y="2369370"/>
            <a:ext cx="26060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9904" y="236937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81344" y="246081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Poppins"/>
              </a:rPr>
              <a:t>0.41–0.89</a:t>
            </a:r>
            <a:endParaRPr lang="en-US" sz="2800" dirty="0">
              <a:latin typeface="Poppin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81344" y="314661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Within-cluster range (G&amp;L clusters)</a:t>
            </a:r>
            <a:endParaRPr lang="en-US" sz="1400" dirty="0">
              <a:latin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81344" y="348493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Data-driven clusters are far more internally coherent than the HXZ theory-based categories (within-category range: 0.07–0.60).</a:t>
            </a:r>
            <a:endParaRPr lang="en-US" sz="1100" dirty="0">
              <a:latin typeface="Times New Roman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598892"/>
            <a:ext cx="822960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598892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460965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8A"/>
                </a:solidFill>
                <a:latin typeface="Times New Roman"/>
              </a:rPr>
              <a:t>Implication: Many documented anomalies are redundant — they capture the same few underlying forces. Clustering reduces the effective dimensionality of the anomaly zoo and helps identify genuinely distinct return predictors.</a:t>
            </a:r>
            <a:endParaRPr lang="en-US" sz="12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5250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Hou, Xue &amp; Zhang (2018) — "Replicating Anomalies"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Review of Financial Studies — Jan 1967 to Dec 2016, 452 anomalies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789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" cy="107899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Times New Roman"/>
              </a:rPr>
              <a:t>"Most anomalies fail to hold up to currently acceptable standards for empirical finance. With microcaps mitigated via NYSE breakpoints and value-weighted returns, 65% of the 452 anomalies... cannot clear the single test hurdle of |t| ≥ 1.96. Imposing the higher multiple test hurdle of 2.78 raises the failure rate to 82%... capital markets are more efficient than previously recognized."</a:t>
            </a:r>
            <a:endParaRPr lang="en-US" sz="12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0" y="21214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imes New Roman"/>
              </a:rPr>
              <a:t>— Hou, Xue &amp; Zhang (2018, RFS)</a:t>
            </a:r>
            <a:endParaRPr lang="en-US" sz="800" dirty="0">
              <a:latin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61304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25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Poppins"/>
              </a:rPr>
              <a:t>452</a:t>
            </a:r>
            <a:endParaRPr lang="en-US" sz="3200" dirty="0">
              <a:latin typeface="Poppin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184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Anomalies attempted</a:t>
            </a:r>
            <a:endParaRPr lang="en-US" sz="1100" dirty="0">
              <a:latin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32888" y="2361304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32888" y="2525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Poppins"/>
              </a:rPr>
              <a:t>65%</a:t>
            </a:r>
            <a:endParaRPr lang="en-US" sz="3200" dirty="0">
              <a:latin typeface="Poppi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24328" y="3184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Fail single test (|t|&lt;1.96)</a:t>
            </a:r>
            <a:endParaRPr lang="en-US" sz="1100" dirty="0">
              <a:latin typeface="Times New Roman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NYSE-VW methodology</a:t>
            </a:r>
            <a:endParaRPr lang="en-US" sz="11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08576" y="2361304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08576" y="2525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Poppins"/>
              </a:rPr>
              <a:t>82%</a:t>
            </a:r>
            <a:endParaRPr lang="en-US" sz="3200" dirty="0">
              <a:latin typeface="Poppin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0016" y="3184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Fail multiple test (|t|&lt;2.78)</a:t>
            </a:r>
            <a:endParaRPr lang="en-US" sz="1100" dirty="0">
              <a:latin typeface="Times New Roman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NYSE-VW methodology</a:t>
            </a:r>
            <a:endParaRPr lang="en-US" sz="11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84264" y="2361304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84264" y="2525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Poppins"/>
              </a:rPr>
              <a:t>96%</a:t>
            </a:r>
            <a:endParaRPr lang="en-US" sz="3200" dirty="0">
              <a:latin typeface="Poppin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75704" y="3184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Trading frictions anomalies</a:t>
            </a:r>
            <a:endParaRPr lang="en-US" sz="1100" dirty="0">
              <a:latin typeface="Times New Roman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fail to replicate</a:t>
            </a:r>
            <a:endParaRPr lang="en-US" sz="1100" dirty="0">
              <a:latin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87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Two methodological choices drive everything:</a:t>
            </a:r>
            <a:endParaRPr lang="en-US" sz="1400" dirty="0">
              <a:latin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224528"/>
            <a:ext cx="3886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①</a:t>
            </a:r>
            <a:endParaRPr lang="en-US" sz="1200" dirty="0">
              <a:latin typeface="Times New Roman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78992" y="421064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Times New Roman"/>
              </a:rPr>
              <a:t>Breakpoints</a:t>
            </a:r>
            <a:endParaRPr lang="en-US" sz="1200" dirty="0">
              <a:latin typeface="Times New Roman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8992" y="4540371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Times New Roman"/>
              </a:rPr>
              <a:t>NYSE-only breakpoints (stricter) vs. All-stock breakpoints. NYSE breakpoints prevent extreme quintiles being dominated by tiny microcap stocks.</a:t>
            </a:r>
            <a:endParaRPr lang="en-US" sz="900" dirty="0">
              <a:latin typeface="Times New Roman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4224528"/>
            <a:ext cx="3886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4224528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73168" y="4315968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②</a:t>
            </a:r>
            <a:endParaRPr lang="en-US" sz="1200" dirty="0">
              <a:latin typeface="Times New Roman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85232" y="419988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Times New Roman"/>
              </a:rPr>
              <a:t>Portfolio Weighting</a:t>
            </a:r>
            <a:endParaRPr lang="en-US" sz="1200" dirty="0">
              <a:latin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85232" y="4540371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Times New Roman"/>
              </a:rPr>
              <a:t>Value-weighted (by market cap) vs. Equal-weighted. Value-weighting ensures large, economically important stocks drive portfolio returns.</a:t>
            </a:r>
            <a:endParaRPr lang="en-US" sz="9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643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Replication Rates by Methodology — HXZ (2018) Figure 2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20240" y="5715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7"/>
                </a:solidFill>
                <a:latin typeface="Times New Roman"/>
              </a:rPr>
              <a:t>Stricter methodology → far fewer anomalies survive</a:t>
            </a:r>
            <a:endParaRPr lang="en-US" sz="1400" dirty="0">
              <a:latin typeface="Times New Roman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87552"/>
          <a:ext cx="5486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987552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9632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Reading the Chart</a:t>
            </a:r>
            <a:endParaRPr lang="en-US" sz="1100" dirty="0">
              <a:latin typeface="Times New Roman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99632" y="1508760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1490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C5B"/>
                </a:solidFill>
                <a:latin typeface="Times New Roman"/>
              </a:rPr>
              <a:t>Blue bars</a:t>
            </a:r>
            <a:endParaRPr lang="en-US" sz="950" dirty="0">
              <a:latin typeface="Times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9632" y="1728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Times New Roman"/>
              </a:rPr>
              <a:t>Single test threshold (|t| ≥ 1.96) — the conventional 5% significance level.</a:t>
            </a:r>
            <a:endParaRPr lang="en-US" sz="850" dirty="0">
              <a:latin typeface="Times New Roman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99632" y="2286000"/>
            <a:ext cx="20116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0" y="2267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C5B"/>
                </a:solidFill>
                <a:latin typeface="Times New Roman"/>
              </a:rPr>
              <a:t>Grey bars</a:t>
            </a:r>
            <a:endParaRPr lang="en-US" sz="950" dirty="0">
              <a:latin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99632" y="25054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Times New Roman"/>
              </a:rPr>
              <a:t>Multiple test threshold (|t| ≥ 2.78) — corrects for the fact that 452 tests were run simultaneously.</a:t>
            </a:r>
            <a:endParaRPr lang="en-US" sz="850" dirty="0">
              <a:latin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99632" y="3063240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3044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C5B"/>
                </a:solidFill>
                <a:latin typeface="Times New Roman"/>
              </a:rPr>
              <a:t>NYSE-VW</a:t>
            </a:r>
            <a:endParaRPr lang="en-US" sz="950" dirty="0">
              <a:latin typeface="Times New Roman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99632" y="32826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Times New Roman"/>
              </a:rPr>
              <a:t>Strictest methodology (bottom two bars). Only 35% pass even the lenient single test.</a:t>
            </a:r>
            <a:endParaRPr lang="en-US" sz="850" dirty="0">
              <a:latin typeface="Times New Roman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9632" y="3840480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92240" y="3822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C5B"/>
                </a:solidFill>
                <a:latin typeface="Times New Roman"/>
              </a:rPr>
              <a:t>All-EW</a:t>
            </a:r>
            <a:endParaRPr lang="en-US" sz="950" dirty="0">
              <a:latin typeface="Times New Roman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99632" y="4059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Times New Roman"/>
              </a:rPr>
              <a:t>Most lenient methodology (middle bars). ~58% pass — inflated by microcap bias.</a:t>
            </a:r>
            <a:endParaRPr lang="en-US" sz="850" dirty="0">
              <a:latin typeface="Times New Roman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imes New Roman"/>
              </a:rPr>
              <a:t>Source: Hou, Xue &amp; Zhang (2018, RFS), Figure 2, Panel A. Jan 1967 – Dec 2016.</a:t>
            </a:r>
            <a:endParaRPr lang="en-US" sz="8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2666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The Microcap Problem — Why Methodology Matters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Microcaps = bottom 20% of NYSE stocks by market cap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Times New Roman"/>
              </a:rPr>
              <a:t>What are microcap stocks?</a:t>
            </a:r>
            <a:endParaRPr lang="en-US" sz="120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3984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imes New Roman"/>
              </a:rPr>
              <a:t>Very small and illiquid — high transaction costs</a:t>
            </a:r>
            <a:endParaRPr lang="en-US" sz="11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186107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76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imes New Roman"/>
              </a:rPr>
              <a:t>Disproportionately numerous by stock count</a:t>
            </a:r>
            <a:endParaRPr lang="en-US" sz="1100" dirty="0">
              <a:latin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220854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19025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imes New Roman"/>
              </a:rPr>
              <a:t>Very high equal-weighted returns (partly due to bid-ask bounce, data errors, and illiquidity premia)</a:t>
            </a:r>
            <a:endParaRPr lang="en-US" sz="1100" dirty="0">
              <a:latin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" y="267435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6130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imes New Roman"/>
              </a:rPr>
              <a:t>Tiny by market cap — near-zero weight in value-weighted portfolios</a:t>
            </a:r>
            <a:endParaRPr lang="en-US" sz="1100" dirty="0">
              <a:latin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80560" y="1005840"/>
            <a:ext cx="4297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Times New Roman"/>
              </a:rPr>
              <a:t>Effect on Anomaly Studies</a:t>
            </a:r>
            <a:endParaRPr lang="en-US" sz="12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481328"/>
            <a:ext cx="3017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/>
              </a:rPr>
              <a:t>All stocks + EW</a:t>
            </a:r>
            <a:endParaRPr lang="en-US" sz="950" dirty="0">
              <a:latin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1773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Times New Roman"/>
              </a:rPr>
              <a:t>Microcaps dominate extreme quintiles; inflates anomaly returns ↑</a:t>
            </a:r>
            <a:endParaRPr lang="en-US" sz="900" dirty="0">
              <a:latin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231136"/>
            <a:ext cx="30175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/>
              </a:rPr>
              <a:t>NYSE breaks + VW</a:t>
            </a:r>
            <a:endParaRPr lang="en-US" sz="950" dirty="0">
              <a:latin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Times New Roman"/>
              </a:rPr>
              <a:t>Microcaps contribute negligibly; returns reflect large-cap stocks ↓</a:t>
            </a:r>
            <a:endParaRPr lang="en-US" sz="900" dirty="0">
              <a:latin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218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Times New Roman"/>
              </a:rPr>
              <a:t>CRSP Sample Construction — Standard Filters (Python)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84124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6616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crsp = crsp[crsp['shrcd'].isin([10, 11])]          # Common domestic US stocks only</a:t>
            </a:r>
            <a:endParaRPr lang="en-US" sz="750" dirty="0">
              <a:latin typeface="Times New Roman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377647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crsp = crsp[crsp['exchcd'].isin([1, 2, 3])]        # NYSE, AMEX, NASDAQ</a:t>
            </a:r>
            <a:endParaRPr lang="en-US" sz="750" dirty="0">
              <a:latin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" y="398678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crsp = crsp.dropna(subset=['ret', 'mktcap'])       # Require returns &amp; market cap</a:t>
            </a:r>
            <a:endParaRPr lang="en-US" sz="750" dirty="0">
              <a:latin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" y="419709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nyse_p20 = nyse.groupby('date')['mktcap'].quantile(0.20)  # NYSE 20th pctile</a:t>
            </a:r>
            <a:endParaRPr lang="en-US" sz="750" dirty="0">
              <a:latin typeface="Times New Roman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" y="440740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crsp['is_microcap'] = crsp['mktcap'] &lt; crsp['nyse_p20']   # Flag microcaps</a:t>
            </a:r>
            <a:endParaRPr lang="en-US" sz="750" dirty="0">
              <a:latin typeface="Times New Roman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20" y="461772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sample_vw = crsp[~crsp['is_microcap']].copy()     # VW sample: drop microcaps</a:t>
            </a:r>
            <a:endParaRPr lang="en-US" sz="75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4687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Four Best Practices for Rigorous Anomaly Research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What separates genuine signal from noise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①</a:t>
            </a:r>
            <a:endParaRPr lang="en-US" sz="1800" dirty="0">
              <a:latin typeface="Poppi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3312" y="13075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NYSE Breakpoints</a:t>
            </a:r>
            <a:endParaRPr lang="en-US" sz="1300" dirty="0">
              <a:latin typeface="Poppi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Times New Roman"/>
              </a:rPr>
              <a:t>Calculate quintile breakpoints using NYSE-listed stocks only. This prevents extreme portfolios from being stuffed with tiny NASDAQ/AMEX microcaps that inflate apparent returns.</a:t>
            </a:r>
            <a:endParaRPr lang="en-US" sz="105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261872"/>
            <a:ext cx="658368" cy="6583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②</a:t>
            </a:r>
            <a:endParaRPr lang="en-US" sz="1800" dirty="0">
              <a:latin typeface="Poppin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88152" y="13075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Value-Weighted Returns</a:t>
            </a:r>
            <a:endParaRPr lang="en-US" sz="1300" dirty="0">
              <a:latin typeface="Poppi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Times New Roman"/>
              </a:rPr>
              <a:t>Weight each stock by its market capitalisation. Equal-weighting gives identical weight to Apple and a $5M microcap. Report EW as a robustness check only.</a:t>
            </a:r>
            <a:endParaRPr lang="en-US" sz="105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0456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087444"/>
            <a:ext cx="658368" cy="6583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874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③</a:t>
            </a:r>
            <a:endParaRPr lang="en-US" sz="1800" dirty="0">
              <a:latin typeface="Poppin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53312" y="31331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Multiple-Testing Correction</a:t>
            </a:r>
            <a:endParaRPr lang="en-US" sz="1300" dirty="0">
              <a:latin typeface="Poppin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8372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Times New Roman"/>
              </a:rPr>
              <a:t>Use |t| ≥ 2.78 (not the naive 1.96) as the significance threshold. With 452 simultaneous tests, the expected number of false positives at 1.96 is enormous.</a:t>
            </a:r>
            <a:endParaRPr lang="en-US" sz="1050" dirty="0">
              <a:latin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290456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3076686"/>
            <a:ext cx="658368" cy="6583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0874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④</a:t>
            </a:r>
            <a:endParaRPr lang="en-US" sz="1800" dirty="0">
              <a:latin typeface="Poppin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88152" y="31331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Extended Sample Period</a:t>
            </a:r>
            <a:endParaRPr lang="en-US" sz="1300" dirty="0">
              <a:latin typeface="Poppin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83480" y="38372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Times New Roman"/>
              </a:rPr>
              <a:t>Verify results over the full extended sample, not just the original study period. Post-publication anomalies often decay as traders arbitrage them away.</a:t>
            </a:r>
            <a:endParaRPr lang="en-US" sz="1050" dirty="0">
              <a:latin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4824804"/>
            <a:ext cx="841248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8248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Times New Roman"/>
              </a:rPr>
              <a:t>Applying all four → 65% to 82% of published anomalies disappear. Capital markets are more efficient than the zoo suggests.</a:t>
            </a:r>
            <a:endParaRPr lang="en-US" sz="95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6424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Final Thoughts — Three Confounding Forces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Times New Roman"/>
              </a:rPr>
              <a:t>The hardest problem in empirical asset pricing</a:t>
            </a:r>
            <a:endParaRPr lang="en-US" sz="1000" dirty="0">
              <a:latin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Times New Roman"/>
              </a:rPr>
              <a:t>Untangling what drives average returns requires disentangling three distinct forces:</a:t>
            </a:r>
            <a:endParaRPr lang="en-US" sz="1100" dirty="0">
              <a:latin typeface="Times New Roman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C60B55-7843-385B-629F-566ECA83FD57}"/>
              </a:ext>
            </a:extLst>
          </p:cNvPr>
          <p:cNvGrpSpPr/>
          <p:nvPr/>
        </p:nvGrpSpPr>
        <p:grpSpPr>
          <a:xfrm>
            <a:off x="365760" y="1274165"/>
            <a:ext cx="8321040" cy="2331720"/>
            <a:chOff x="365760" y="1371600"/>
            <a:chExt cx="8321040" cy="2331720"/>
          </a:xfrm>
        </p:grpSpPr>
        <p:sp>
          <p:nvSpPr>
            <p:cNvPr id="6" name="Shape 4"/>
            <p:cNvSpPr/>
            <p:nvPr/>
          </p:nvSpPr>
          <p:spPr>
            <a:xfrm>
              <a:off x="365760" y="1371600"/>
              <a:ext cx="2651760" cy="2331720"/>
            </a:xfrm>
            <a:prstGeom prst="rect">
              <a:avLst/>
            </a:prstGeom>
            <a:solidFill>
              <a:srgbClr val="F0FDF4"/>
            </a:solidFill>
            <a:ln w="1016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46304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  <a:latin typeface="Poppins"/>
                </a:rPr>
                <a:t>✅</a:t>
              </a:r>
              <a:endParaRPr lang="en-US" sz="2200" dirty="0">
                <a:latin typeface="Poppins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1993392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6A34A"/>
                  </a:solidFill>
                  <a:latin typeface="Times New Roman"/>
                </a:rPr>
                <a:t>Risk Compensation</a:t>
              </a:r>
              <a:endParaRPr lang="en-US" sz="1150" dirty="0">
                <a:latin typeface="Times New Roman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2377440"/>
              <a:ext cx="237744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Times New Roman"/>
                </a:rPr>
                <a:t>Compensation for bearing systematic risk. Should be captured by benchmark pricing models. e.g. the size premium may reflect higher distress risk of small firms.</a:t>
              </a:r>
              <a:endParaRPr lang="en-US" sz="950" dirty="0">
                <a:latin typeface="Times New Roman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200400" y="1371600"/>
              <a:ext cx="2651760" cy="2331720"/>
            </a:xfrm>
            <a:prstGeom prst="rect">
              <a:avLst/>
            </a:prstGeom>
            <a:solidFill>
              <a:srgbClr val="FFFBEB"/>
            </a:solidFill>
            <a:ln w="1016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0" y="146304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  <a:latin typeface="Poppins"/>
                </a:rPr>
                <a:t>⚠️</a:t>
              </a:r>
              <a:endParaRPr lang="en-US" sz="2200" dirty="0">
                <a:latin typeface="Poppins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337560" y="1993392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D97706"/>
                  </a:solidFill>
                  <a:latin typeface="Times New Roman"/>
                </a:rPr>
                <a:t>Predictable Mispricing</a:t>
              </a:r>
              <a:endParaRPr lang="en-US" sz="1150" dirty="0">
                <a:latin typeface="Times New Roman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337560" y="2377440"/>
              <a:ext cx="237744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Times New Roman"/>
                </a:rPr>
                <a:t>Persistent behavioural biases or institutional constraints preventing prices from reflecting fundamental value. Represents genuine alpha — should not be in benchmark models.</a:t>
              </a:r>
              <a:endParaRPr lang="en-US" sz="950" dirty="0">
                <a:latin typeface="Times New Roman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6035040" y="1371600"/>
              <a:ext cx="2651760" cy="2331720"/>
            </a:xfrm>
            <a:prstGeom prst="rect">
              <a:avLst/>
            </a:prstGeom>
            <a:solidFill>
              <a:srgbClr val="FFF1F2"/>
            </a:solidFill>
            <a:ln w="10160">
              <a:solidFill>
                <a:srgbClr val="FECAC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6035040" y="146304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  <a:latin typeface="Poppins"/>
                </a:rPr>
                <a:t>❌</a:t>
              </a:r>
              <a:endParaRPr lang="en-US" sz="2200" dirty="0">
                <a:latin typeface="Poppins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172200" y="1993392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DC2626"/>
                  </a:solidFill>
                  <a:latin typeface="Times New Roman"/>
                </a:rPr>
                <a:t>Data Mining</a:t>
              </a:r>
              <a:endParaRPr lang="en-US" sz="1150" dirty="0">
                <a:latin typeface="Times New Roman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172200" y="2377440"/>
              <a:ext cx="237744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50" dirty="0">
                  <a:solidFill>
                    <a:srgbClr val="334155"/>
                  </a:solidFill>
                  <a:latin typeface="Times New Roman"/>
                </a:rPr>
                <a:t>Results obtained by fitting models to noise. Running thousands of regressions until something looks significant. HXZ (2018) suggest this is responsible for a large fraction of published "anomalies".</a:t>
              </a:r>
              <a:endParaRPr lang="en-US" sz="950" dirty="0">
                <a:latin typeface="Times New Roman"/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365760" y="3747242"/>
            <a:ext cx="8412480" cy="621792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0194F9-43E0-D372-277E-7C7C1189DC0F}"/>
              </a:ext>
            </a:extLst>
          </p:cNvPr>
          <p:cNvGrpSpPr/>
          <p:nvPr/>
        </p:nvGrpSpPr>
        <p:grpSpPr>
          <a:xfrm>
            <a:off x="365760" y="3747242"/>
            <a:ext cx="8229600" cy="621792"/>
            <a:chOff x="365760" y="3822192"/>
            <a:chExt cx="8229600" cy="621792"/>
          </a:xfrm>
        </p:grpSpPr>
        <p:sp>
          <p:nvSpPr>
            <p:cNvPr id="19" name="Shape 17"/>
            <p:cNvSpPr/>
            <p:nvPr/>
          </p:nvSpPr>
          <p:spPr>
            <a:xfrm>
              <a:off x="365760" y="3822192"/>
              <a:ext cx="45720" cy="62179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548640" y="3877056"/>
              <a:ext cx="8046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3A8A"/>
                  </a:solidFill>
                  <a:latin typeface="Times New Roman"/>
                </a:rPr>
                <a:t>🔭  Looking Forward — Financial Machine Learning (Topic 14)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548640" y="4133088"/>
              <a:ext cx="8046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E3A8A"/>
                  </a:solidFill>
                  <a:latin typeface="Times New Roman"/>
                </a:rPr>
                <a:t>Research has increasingly moved toward ML methods — random forests, gradient boosting, deep neural networks — that simultaneously consider hundreds of characteristics and their interactions, in ways that sorted portfolio methodology cannot.</a:t>
              </a:r>
              <a:endParaRPr lang="en-US" sz="950" dirty="0">
                <a:latin typeface="Times New Roman"/>
              </a:endParaRPr>
            </a:p>
          </p:txBody>
        </p:sp>
      </p:grpSp>
      <p:sp>
        <p:nvSpPr>
          <p:cNvPr id="23" name="Shape 21"/>
          <p:cNvSpPr/>
          <p:nvPr/>
        </p:nvSpPr>
        <p:spPr>
          <a:xfrm>
            <a:off x="411480" y="4882896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4882896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882896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4882896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D9DAC3-A3FB-9816-CE6C-19DF9AA51345}"/>
              </a:ext>
            </a:extLst>
          </p:cNvPr>
          <p:cNvGrpSpPr/>
          <p:nvPr/>
        </p:nvGrpSpPr>
        <p:grpSpPr>
          <a:xfrm>
            <a:off x="365760" y="4448782"/>
            <a:ext cx="8412480" cy="614898"/>
            <a:chOff x="365760" y="4651147"/>
            <a:chExt cx="8412480" cy="614898"/>
          </a:xfrm>
        </p:grpSpPr>
        <p:sp>
          <p:nvSpPr>
            <p:cNvPr id="22" name="Text 20"/>
            <p:cNvSpPr/>
            <p:nvPr/>
          </p:nvSpPr>
          <p:spPr>
            <a:xfrm>
              <a:off x="365760" y="4651147"/>
              <a:ext cx="8412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C5B"/>
                  </a:solidFill>
                  <a:latin typeface="Times New Roman"/>
                </a:rPr>
                <a:t>Where Does This Leave Us?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4790557"/>
              <a:ext cx="8321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en-US" sz="900" dirty="0">
                  <a:solidFill>
                    <a:srgbClr val="334155"/>
                  </a:solidFill>
                  <a:latin typeface="Times New Roman"/>
                </a:rPr>
                <a:t>• CAPM: theoretically elegant, empirically weak   • FF5 / HXZ4: better empirically — but purely descriptive, not theoretical   • Most anomalies: do not survive rigorous replication (HXZ 2018)   • Benchmark wars: HXZ models have an edge for anomalies; CAPM remains the corporate finance default</a:t>
              </a:r>
              <a:endParaRPr lang="en-US" sz="900" dirty="0"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24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A5846C4E-1094-403D-C83E-08C38AEE6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26" y="482600"/>
            <a:ext cx="7920946" cy="417829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5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57200"/>
            <a:ext cx="5029200" cy="5029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/>
              </a:rPr>
              <a:t>Key Takeaways</a:t>
            </a:r>
            <a:endParaRPr lang="en-US" sz="3000" dirty="0">
              <a:latin typeface="Poppin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371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7007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FF3 / FFC4 / FF5 / HXZ4 are empirical benchmarks — not theories of expected returns</a:t>
            </a:r>
            <a:endParaRPr lang="en-US" sz="110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22037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Benchmark wars: HXZ4 and q5 appear to explain anomalies better than FF5; CAPM dominates in corporate practice</a:t>
            </a:r>
            <a:endParaRPr lang="en-US" sz="11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2706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An anomaly = sorted strategy earning alpha unexplained by benchmark models. Most started as anomalies before being co-opted as factors</a:t>
            </a:r>
            <a:endParaRPr lang="en-US" sz="1100" dirty="0">
              <a:latin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" y="32095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HXZ (2018): 452 anomalies tested — 65% fail at |t|≥1.96 and 82% fail at |t|≥2.78 under NYSE-VW methodology</a:t>
            </a:r>
            <a:endParaRPr lang="en-US" sz="1100" dirty="0">
              <a:latin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264" y="37124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Root cause: microcap contamination. NYSE breakpoints + value-weighting remove most apparent anomalies</a:t>
            </a:r>
            <a:endParaRPr lang="en-US" sz="1100" dirty="0">
              <a:latin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9264" y="42153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Three confounding forces: risk compensation (legitimate), mispricing (genuine alpha), data mining (noise)</a:t>
            </a:r>
            <a:endParaRPr lang="en-US" sz="11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411480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Times New Roman"/>
              </a:rPr>
              <a:t>Next: Topic 14 — Financial Machine Learning (Gu, Kelly &amp; Xiu 2020)</a:t>
            </a:r>
            <a:endParaRPr lang="en-US" sz="10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7625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19B0DE-C1E4-274B-ACCF-ACC74D621F6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df8be0b-7a8e-42aa-a3da-2def65000f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2554</Words>
  <Application>Microsoft Macintosh PowerPoint</Application>
  <PresentationFormat>On-screen Show (16:9)</PresentationFormat>
  <Paragraphs>324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Consolas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361 — Topic 13: Anomalies and Factor Models</dc:title>
  <dc:subject>PptxGenJS Presentation</dc:subject>
  <dc:creator>Dr. Zicheng (Leo) Xiao</dc:creator>
  <cp:lastModifiedBy>Leo Xiao</cp:lastModifiedBy>
  <cp:revision>14</cp:revision>
  <dcterms:created xsi:type="dcterms:W3CDTF">2026-05-03T14:23:45Z</dcterms:created>
  <dcterms:modified xsi:type="dcterms:W3CDTF">2026-05-08T00:31:05Z</dcterms:modified>
</cp:coreProperties>
</file>