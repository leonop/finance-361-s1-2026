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88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4" r:id="rId17"/>
    <p:sldId id="30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02"/>
    <p:restoredTop sz="69726"/>
  </p:normalViewPr>
  <p:slideViewPr>
    <p:cSldViewPr snapToGrid="0" snapToObjects="1">
      <p:cViewPr varScale="1">
        <p:scale>
          <a:sx n="115" d="100"/>
          <a:sy n="115" d="100"/>
        </p:scale>
        <p:origin x="15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error</c:v>
                </c:pt>
              </c:strCache>
            </c:strRef>
          </c:tx>
          <c:spPr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4.8499999999999996</c:v>
                </c:pt>
                <c:pt idx="1">
                  <c:v>3.72</c:v>
                </c:pt>
                <c:pt idx="2">
                  <c:v>2.94</c:v>
                </c:pt>
                <c:pt idx="3">
                  <c:v>2.35</c:v>
                </c:pt>
                <c:pt idx="4">
                  <c:v>1.92</c:v>
                </c:pt>
                <c:pt idx="5">
                  <c:v>1.61</c:v>
                </c:pt>
                <c:pt idx="6">
                  <c:v>1.39</c:v>
                </c:pt>
                <c:pt idx="7">
                  <c:v>1.22</c:v>
                </c:pt>
                <c:pt idx="8">
                  <c:v>1.0900000000000001</c:v>
                </c:pt>
                <c:pt idx="9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FE9-3F44-96C4-96EEBEEBFC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error</c:v>
                </c:pt>
              </c:strCache>
            </c:strRef>
          </c:tx>
          <c:spPr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5.0999999999999996</c:v>
                </c:pt>
                <c:pt idx="1">
                  <c:v>4.05</c:v>
                </c:pt>
                <c:pt idx="2">
                  <c:v>3.35</c:v>
                </c:pt>
                <c:pt idx="3">
                  <c:v>3.02</c:v>
                </c:pt>
                <c:pt idx="4">
                  <c:v>2.95</c:v>
                </c:pt>
                <c:pt idx="5">
                  <c:v>3.08</c:v>
                </c:pt>
                <c:pt idx="6">
                  <c:v>3.42</c:v>
                </c:pt>
                <c:pt idx="7">
                  <c:v>4.01</c:v>
                </c:pt>
                <c:pt idx="8">
                  <c:v>4.92</c:v>
                </c:pt>
                <c:pt idx="9">
                  <c:v>6.15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FE9-3F44-96C4-96EEBEEBFC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Irreducible noise</c:v>
                </c:pt>
              </c:strCache>
            </c:strRef>
          </c:tx>
          <c:spPr>
            <a:ln w="25400" cap="flat">
              <a:solidFill>
                <a:srgbClr val="94A3B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0.9</c:v>
                </c:pt>
                <c:pt idx="1">
                  <c:v>0.9</c:v>
                </c:pt>
                <c:pt idx="2">
                  <c:v>0.9</c:v>
                </c:pt>
                <c:pt idx="3">
                  <c:v>0.9</c:v>
                </c:pt>
                <c:pt idx="4">
                  <c:v>0.9</c:v>
                </c:pt>
                <c:pt idx="5">
                  <c:v>0.9</c:v>
                </c:pt>
                <c:pt idx="6">
                  <c:v>0.9</c:v>
                </c:pt>
                <c:pt idx="7">
                  <c:v>0.9</c:v>
                </c:pt>
                <c:pt idx="8">
                  <c:v>0.9</c:v>
                </c:pt>
                <c:pt idx="9">
                  <c:v>0.9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5FE9-3F44-96C4-96EEBEEBFC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Out-of-sample MSE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B9E-F343-BC34-23269035F820}"/>
              </c:ext>
            </c:extLst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B9E-F343-BC34-23269035F820}"/>
              </c:ext>
            </c:extLst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B9E-F343-BC34-23269035F820}"/>
              </c:ext>
            </c:extLst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B9E-F343-BC34-23269035F820}"/>
              </c:ext>
            </c:extLst>
          </c:dPt>
          <c:dPt>
            <c:idx val="4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B9E-F343-BC34-23269035F82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OLS</c:v>
                </c:pt>
                <c:pt idx="1">
                  <c:v>Ridge</c:v>
                </c:pt>
                <c:pt idx="2">
                  <c:v>Tree</c:v>
                </c:pt>
                <c:pt idx="3">
                  <c:v>GBM</c:v>
                </c:pt>
                <c:pt idx="4">
                  <c:v>NeuralNet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19.45</c:v>
                </c:pt>
                <c:pt idx="1">
                  <c:v>19.39</c:v>
                </c:pt>
                <c:pt idx="2">
                  <c:v>37.14</c:v>
                </c:pt>
                <c:pt idx="3">
                  <c:v>18.41</c:v>
                </c:pt>
                <c:pt idx="4">
                  <c:v>19.82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B9E-F343-BC34-23269035F8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2517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8610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Zxiao/Downloads/Topic_14_Financial_Machine_Learning_1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Zxiao/Downloads/Topic_14_Financial_Machine_Learning_1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457200"/>
            <a:ext cx="4572000" cy="45720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84C"/>
                </a:solidFill>
                <a:latin typeface="Poppins"/>
              </a:rPr>
              <a:t>FINANCE 361 — Topic 14</a:t>
            </a:r>
            <a:endParaRPr lang="en-US" sz="1300" dirty="0">
              <a:latin typeface="Poppin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6583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oppins"/>
              </a:rPr>
              <a:t>Financial</a:t>
            </a:r>
            <a:endParaRPr lang="en-US" sz="4200" dirty="0">
              <a:latin typeface="Poppins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oppins"/>
              </a:rPr>
              <a:t>Machine Learning</a:t>
            </a:r>
            <a:endParaRPr lang="en-US" sz="4200" dirty="0">
              <a:latin typeface="Poppin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12801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99923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6E4F7"/>
                </a:solidFill>
                <a:latin typeface="Times New Roman"/>
              </a:rPr>
              <a:t>ML is transforming empirical finance. This module covers what it is, why it is hard, and what GKX (2020) actually found.</a:t>
            </a:r>
            <a:endParaRPr lang="en-US" sz="1250" dirty="0">
              <a:latin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AFD4"/>
                </a:solidFill>
                <a:latin typeface="Times New Roman"/>
              </a:rPr>
              <a:t>Required reading: Gu, Kelly &amp; Xiu (2020), "Empirical Asset Pricing via Machine Learning", Review of Financial Studies</a:t>
            </a:r>
            <a:endParaRPr lang="en-US" sz="1100" dirty="0">
              <a:latin typeface="Times New Roman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FC0"/>
                </a:solidFill>
                <a:latin typeface="Times New Roman"/>
              </a:rPr>
              <a:t>Dr. Zicheng (Leo) Xiao  ·  University of Auckland  ·  FINANCE 361</a:t>
            </a:r>
            <a:endParaRPr lang="en-US" sz="11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8692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What Are We Doing Today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7"/>
                </a:solidFill>
                <a:latin typeface="Times New Roman"/>
              </a:rPr>
              <a:t>Topic 14 · Required: GKX (2020) up to Section 1.4, pp. 2223–2235</a:t>
            </a:r>
            <a:endParaRPr lang="en-US" sz="1100" dirty="0">
              <a:latin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54864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1792" y="1261872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/>
              </a:rPr>
              <a:t>01</a:t>
            </a:r>
            <a:endParaRPr lang="en-US" sz="1300" dirty="0">
              <a:latin typeface="Poppin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61872" y="11704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Poppins"/>
              </a:rPr>
              <a:t>What Is Machine Learning?</a:t>
            </a:r>
            <a:endParaRPr lang="en-US" sz="1300" dirty="0">
              <a:latin typeface="Poppin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61872" y="148132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Times New Roman"/>
              </a:rPr>
              <a:t>AI ⊃ ML ⊃ Deep Learning. The key distinction between traditional statistical models and data-driven learning. What ML can and cannot do.</a:t>
            </a:r>
            <a:endParaRPr lang="en-US" sz="1300" dirty="0">
              <a:latin typeface="Times New Roma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066544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066544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" y="2249424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2249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/>
              </a:rPr>
              <a:t>02</a:t>
            </a:r>
            <a:endParaRPr lang="en-US" sz="1300" dirty="0">
              <a:latin typeface="Poppin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61872" y="215798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Poppins"/>
              </a:rPr>
              <a:t>9 Reasons Finance is Uniquely Hard</a:t>
            </a:r>
            <a:endParaRPr lang="en-US" sz="1300" dirty="0">
              <a:latin typeface="Poppin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61872" y="2468880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Times New Roman"/>
              </a:rPr>
              <a:t>Extreme noise, reflexivity, the zero-sum game, black swans, finite data, no experiments, time decay, commoditized tools, talent arms race.</a:t>
            </a:r>
            <a:endParaRPr lang="en-US" sz="1300" dirty="0">
              <a:latin typeface="Times New Roma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054096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054096"/>
            <a:ext cx="54864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" y="3236976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" y="3236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/>
              </a:rPr>
              <a:t>03</a:t>
            </a:r>
            <a:endParaRPr lang="en-US" sz="1300" dirty="0">
              <a:latin typeface="Poppin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61872" y="314553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Poppins"/>
              </a:rPr>
              <a:t>Actually Doing ML in Python</a:t>
            </a:r>
            <a:endParaRPr lang="en-US" sz="1300" dirty="0">
              <a:latin typeface="Poppin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61872" y="345643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Times New Roman"/>
              </a:rPr>
              <a:t>ML pipeline, bias-variance tradeoff, and a complete 27-line working example: download real data, train 5 models, compare out-of-sample MSE.</a:t>
            </a:r>
            <a:endParaRPr lang="en-US" sz="1300" dirty="0">
              <a:latin typeface="Times New Roman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4041648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4041648"/>
            <a:ext cx="54864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1792" y="4224528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/>
              </a:rPr>
              <a:t>04</a:t>
            </a:r>
            <a:endParaRPr lang="en-US" sz="1300" dirty="0">
              <a:latin typeface="Poppin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261872" y="413308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Poppins"/>
              </a:rPr>
              <a:t>GKX (2020) Deep Dive</a:t>
            </a:r>
            <a:endParaRPr lang="en-US" sz="1300" dirty="0">
              <a:latin typeface="Poppin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61872" y="4443984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Times New Roman"/>
              </a:rPr>
              <a:t>The landmark paper that brought ML into mainstream empirical asset pricing. Key findings: ML beats OLS, non-linearity matters, momentum/liquidity/volatility dominate.</a:t>
            </a:r>
            <a:endParaRPr lang="en-US" sz="13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53046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What Is Machine Learning?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7"/>
                </a:solidFill>
                <a:latin typeface="Times New Roman"/>
              </a:rPr>
              <a:t>Three terms often used interchangeably — but not the same</a:t>
            </a:r>
            <a:endParaRPr lang="en-US" sz="1100" dirty="0">
              <a:latin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93192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Times New Roman"/>
              </a:rPr>
              <a:t>🤖  Artificial Intelligence (AI)</a:t>
            </a:r>
            <a:endParaRPr lang="en-US" sz="1200" dirty="0">
              <a:latin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Systems that exhibit aspects of intelligence — reasoning, perception, language, problem-solving.</a:t>
            </a:r>
            <a:endParaRPr lang="en-US" sz="1100" dirty="0">
              <a:latin typeface="Times New Roma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3566160" cy="2834640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0756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34"/>
                </a:solidFill>
                <a:latin typeface="Times New Roman"/>
              </a:rPr>
              <a:t>⚙️  Machine Learning (ML)</a:t>
            </a:r>
            <a:endParaRPr lang="en-US" sz="1300" dirty="0">
              <a:latin typeface="Times New Roman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23957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A branch of AI. Models that learn directly from data without being explicitly programmed with rules.</a:t>
            </a:r>
            <a:endParaRPr lang="en-US" sz="1100" dirty="0">
              <a:latin typeface="Times New Roma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960" y="2907792"/>
            <a:ext cx="3108960" cy="1737360"/>
          </a:xfrm>
          <a:prstGeom prst="rect">
            <a:avLst/>
          </a:prstGeom>
          <a:solidFill>
            <a:srgbClr val="F5F3FF"/>
          </a:solidFill>
          <a:ln w="1905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3017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1B6"/>
                </a:solidFill>
                <a:latin typeface="Times New Roman"/>
              </a:rPr>
              <a:t>🧠  Deep Learning (DL)</a:t>
            </a:r>
            <a:endParaRPr lang="en-US" sz="1300" dirty="0">
              <a:latin typeface="Times New Roman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0120" y="33375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A branch of ML using multi-layer neural networks. Powers modern image recognition, LLMs, and more.</a:t>
            </a:r>
            <a:endParaRPr lang="en-US" sz="1100" dirty="0">
              <a:latin typeface="Times New Roman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504748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imes New Roman"/>
              </a:rPr>
              <a:t>AI ⊃ ML ⊃ Deep Learning — each inner ring is a specialisation of the outer one.</a:t>
            </a:r>
            <a:endParaRPr lang="en-US" sz="1100" dirty="0">
              <a:latin typeface="Times New Roma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28032" y="1115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Times New Roman"/>
              </a:rPr>
              <a:t>Traditional Statistics vs. ML</a:t>
            </a:r>
            <a:endParaRPr lang="en-US" sz="1400" dirty="0">
              <a:latin typeface="Times New Roman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28032" y="14813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Times New Roman"/>
              </a:rPr>
              <a:t>Traditional OLS / Regression</a:t>
            </a:r>
            <a:endParaRPr lang="en-US" sz="1300" dirty="0">
              <a:latin typeface="Times New Roman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28032" y="18869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Times New Roman"/>
              </a:rPr>
              <a:t>Researcher specifies the model: which variables, what functional form, which interactions. Model is estimated given that fixed structure.</a:t>
            </a:r>
            <a:endParaRPr lang="en-US" sz="1400" dirty="0">
              <a:latin typeface="Times New Roman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28032" y="2286000"/>
            <a:ext cx="3474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2907792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28032" y="30175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Times New Roman"/>
              </a:rPr>
              <a:t>Machine Learning</a:t>
            </a:r>
            <a:endParaRPr lang="en-US" sz="1300" dirty="0">
              <a:latin typeface="Times New Roman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28032" y="329184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The data determines the functional form. A decision tree discovers its own non-linear breakpoints. A neural network learns its own feature representations through layers of transformation.</a:t>
            </a:r>
            <a:endParaRPr lang="en-US" sz="1100" dirty="0">
              <a:latin typeface="Times New Roman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663440" y="4041648"/>
            <a:ext cx="41148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28032" y="41605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F1D1D"/>
                </a:solidFill>
                <a:latin typeface="Times New Roman"/>
              </a:rPr>
              <a:t>⚠  The cost: flexibility makes ML far more prone to overfitting — fitting noise in training data rather than the true signal.</a:t>
            </a:r>
            <a:endParaRPr lang="en-US" sz="11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59473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9 Reasons Finance Is a Uniquely Hard ML Domain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7"/>
                </a:solidFill>
                <a:latin typeface="Times New Roman"/>
              </a:rPr>
              <a:t>Signal-to-noise ratio ≈ 0.03 — almost no signal to find</a:t>
            </a:r>
            <a:endParaRPr lang="en-US" sz="1100" dirty="0">
              <a:latin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2779776" cy="123187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33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</a:rPr>
              <a:t>1</a:t>
            </a:r>
            <a:endParaRPr lang="en-US" sz="1300" dirty="0">
              <a:latin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0120" y="1133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Times New Roman"/>
              </a:rPr>
              <a:t>Extreme Noise</a:t>
            </a:r>
            <a:endParaRPr lang="en-US" sz="1300" dirty="0">
              <a:latin typeface="Times New Roman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Signal-to-noise ≈ 0.03. Only ~3% of return variation is predictable; 97% is pure noise.</a:t>
            </a:r>
            <a:endParaRPr lang="en-US" sz="1100" dirty="0">
              <a:latin typeface="Times New Roma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27832" y="1024128"/>
            <a:ext cx="2779776" cy="123187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64992" y="1133856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64992" y="1133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</a:rPr>
              <a:t>2</a:t>
            </a:r>
            <a:endParaRPr lang="en-US" sz="1300" dirty="0">
              <a:latin typeface="Times New Roman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22192" y="1133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Times New Roman"/>
              </a:rPr>
              <a:t>Reflexivity</a:t>
            </a:r>
            <a:endParaRPr lang="en-US" sz="1300" dirty="0">
              <a:latin typeface="Times New Roman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64992" y="148132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Trading on a model changes the data-generating process. Markets adapt, making patterns obsolete.</a:t>
            </a:r>
            <a:endParaRPr lang="en-US" sz="1100" dirty="0">
              <a:latin typeface="Times New Roman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89904" y="1024128"/>
            <a:ext cx="2779776" cy="123187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27064" y="1133856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27064" y="1133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</a:rPr>
              <a:t>3</a:t>
            </a:r>
            <a:endParaRPr lang="en-US" sz="1300" dirty="0">
              <a:latin typeface="Times New Roman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84264" y="1133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Times New Roman"/>
              </a:rPr>
              <a:t>Zero-Sum Game</a:t>
            </a:r>
            <a:endParaRPr lang="en-US" sz="1300" dirty="0">
              <a:latin typeface="Times New Roma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27064" y="148132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Short-term trading is zero-sum. Every dollar you gain is a dollar someone else loses.</a:t>
            </a:r>
            <a:endParaRPr lang="en-US" sz="1100" dirty="0">
              <a:latin typeface="Times New Roman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5760" y="2359821"/>
            <a:ext cx="2779776" cy="123187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" y="2452149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244099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</a:rPr>
              <a:t>4</a:t>
            </a:r>
            <a:endParaRPr lang="en-US" sz="1300" dirty="0">
              <a:latin typeface="Times New Roman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0120" y="2452149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Times New Roman"/>
              </a:rPr>
              <a:t>Black Swans</a:t>
            </a:r>
            <a:endParaRPr lang="en-US" sz="1300" dirty="0">
              <a:latin typeface="Times New Roma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2920" y="2799621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Fat tails — extreme events are far more common than normal distributions predict. ML models break catastrophically.</a:t>
            </a:r>
            <a:endParaRPr lang="en-US" sz="1100" dirty="0">
              <a:latin typeface="Times New Roman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27832" y="2359821"/>
            <a:ext cx="2779776" cy="123187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364992" y="2452149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64992" y="244099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</a:rPr>
              <a:t>5</a:t>
            </a:r>
            <a:endParaRPr lang="en-US" sz="1300" dirty="0">
              <a:latin typeface="Times New Roman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822192" y="2452149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Times New Roman"/>
              </a:rPr>
              <a:t>Finite Data + Overfit</a:t>
            </a:r>
            <a:endParaRPr lang="en-US" sz="1300" dirty="0">
              <a:latin typeface="Times New Roman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364992" y="2799621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Financial data arrives one month per month. You cannot run randomised experiments to validate.</a:t>
            </a:r>
            <a:endParaRPr lang="en-US" sz="1100" dirty="0">
              <a:latin typeface="Times New Roman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089904" y="2359821"/>
            <a:ext cx="2779776" cy="123187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227064" y="2452149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27064" y="244099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</a:rPr>
              <a:t>6</a:t>
            </a:r>
            <a:endParaRPr lang="en-US" sz="1300" dirty="0">
              <a:latin typeface="Times New Roman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684264" y="2452149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Times New Roman"/>
              </a:rPr>
              <a:t>No Experiments</a:t>
            </a:r>
            <a:endParaRPr lang="en-US" sz="1300" dirty="0">
              <a:latin typeface="Times New Roman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227064" y="2799621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Regulators treat deliberate market experiments as manipulation. No A/B testing allowed.</a:t>
            </a:r>
            <a:endParaRPr lang="en-US" sz="1100" dirty="0">
              <a:latin typeface="Times New Roman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8BC78CA-4499-FD0A-B9AE-38AFDBDB7F06}"/>
              </a:ext>
            </a:extLst>
          </p:cNvPr>
          <p:cNvGrpSpPr/>
          <p:nvPr/>
        </p:nvGrpSpPr>
        <p:grpSpPr>
          <a:xfrm>
            <a:off x="365760" y="3627265"/>
            <a:ext cx="8503920" cy="1231871"/>
            <a:chOff x="365760" y="3627265"/>
            <a:chExt cx="8503920" cy="1231871"/>
          </a:xfrm>
        </p:grpSpPr>
        <p:sp>
          <p:nvSpPr>
            <p:cNvPr id="35" name="Shape 33"/>
            <p:cNvSpPr/>
            <p:nvPr/>
          </p:nvSpPr>
          <p:spPr>
            <a:xfrm>
              <a:off x="365760" y="3627265"/>
              <a:ext cx="2779776" cy="123187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502920" y="3736993"/>
              <a:ext cx="347472" cy="347472"/>
            </a:xfrm>
            <a:prstGeom prst="ellipse">
              <a:avLst/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502920" y="3725842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/>
                </a:rPr>
                <a:t>7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960120" y="3736993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2C5B"/>
                  </a:solidFill>
                  <a:latin typeface="Times New Roman"/>
                </a:rPr>
                <a:t>Strategy Decay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502920" y="4084465"/>
              <a:ext cx="256032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334155"/>
                  </a:solidFill>
                  <a:latin typeface="Times New Roman"/>
                </a:rPr>
                <a:t>By the time you confirm a strategy works, larger players have already arbitraged it away.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40" name="Shape 38"/>
            <p:cNvSpPr/>
            <p:nvPr/>
          </p:nvSpPr>
          <p:spPr>
            <a:xfrm>
              <a:off x="3227832" y="3627265"/>
              <a:ext cx="2779776" cy="123187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9"/>
            <p:cNvSpPr/>
            <p:nvPr/>
          </p:nvSpPr>
          <p:spPr>
            <a:xfrm>
              <a:off x="3364992" y="3736993"/>
              <a:ext cx="347472" cy="347472"/>
            </a:xfrm>
            <a:prstGeom prst="ellipse">
              <a:avLst/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40"/>
            <p:cNvSpPr/>
            <p:nvPr/>
          </p:nvSpPr>
          <p:spPr>
            <a:xfrm>
              <a:off x="3364992" y="3725842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/>
                </a:rPr>
                <a:t>8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3822192" y="3736993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2C5B"/>
                  </a:solidFill>
                  <a:latin typeface="Times New Roman"/>
                </a:rPr>
                <a:t>Commoditized Tools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44" name="Text 42"/>
            <p:cNvSpPr/>
            <p:nvPr/>
          </p:nvSpPr>
          <p:spPr>
            <a:xfrm>
              <a:off x="3364992" y="4084465"/>
              <a:ext cx="256032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334155"/>
                  </a:solidFill>
                  <a:latin typeface="Times New Roman"/>
                </a:rPr>
                <a:t>PyTorch, scikit-learn, XGBoost are free and open-source. What exactly is your edge?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45" name="Shape 43"/>
            <p:cNvSpPr/>
            <p:nvPr/>
          </p:nvSpPr>
          <p:spPr>
            <a:xfrm>
              <a:off x="6089904" y="3627265"/>
              <a:ext cx="2779776" cy="123187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44"/>
            <p:cNvSpPr/>
            <p:nvPr/>
          </p:nvSpPr>
          <p:spPr>
            <a:xfrm>
              <a:off x="6227064" y="3736993"/>
              <a:ext cx="347472" cy="347472"/>
            </a:xfrm>
            <a:prstGeom prst="ellipse">
              <a:avLst/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45"/>
            <p:cNvSpPr/>
            <p:nvPr/>
          </p:nvSpPr>
          <p:spPr>
            <a:xfrm>
              <a:off x="6227064" y="3725842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/>
                </a:rPr>
                <a:t>9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48" name="Text 46"/>
            <p:cNvSpPr/>
            <p:nvPr/>
          </p:nvSpPr>
          <p:spPr>
            <a:xfrm>
              <a:off x="6684264" y="3736993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2C5B"/>
                  </a:solidFill>
                  <a:latin typeface="Times New Roman"/>
                </a:rPr>
                <a:t>Talent Arms Race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6227064" y="4084465"/>
              <a:ext cx="256032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334155"/>
                  </a:solidFill>
                  <a:latin typeface="Times New Roman"/>
                </a:rPr>
                <a:t>Average ML skills are worthless in a zero-sum game. Alpha gets spent on retaining top talent.</a:t>
              </a:r>
              <a:endParaRPr lang="en-US" sz="1100" dirty="0"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9766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Why Learn ML Despite the Challenges?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7"/>
                </a:solidFill>
                <a:latin typeface="Times New Roman"/>
              </a:rPr>
              <a:t>Signal-to-noise is low — but ignorance is worse</a:t>
            </a:r>
            <a:endParaRPr lang="en-US" sz="1100" dirty="0">
              <a:latin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868680"/>
          </a:xfrm>
          <a:prstGeom prst="rect">
            <a:avLst/>
          </a:prstGeom>
          <a:solidFill>
            <a:srgbClr val="FFF1F2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5720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Times New Roman"/>
              </a:rPr>
              <a:t>⚠  The uncomfortable truth</a:t>
            </a:r>
            <a:endParaRPr lang="en-US" sz="1300" dirty="0">
              <a:latin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35331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F1D1D"/>
                </a:solidFill>
                <a:latin typeface="Times New Roman"/>
              </a:rPr>
              <a:t>Workers who can use AI will replace workers who cannot. The goal of this module is not to train you to beat Renaissance Capital — it is to ensure you can understand, critique, and apply ML methods when they are relevant. That is a career-defining skill in 2025 and beyond.</a:t>
            </a:r>
            <a:endParaRPr lang="en-US" sz="1100" dirty="0">
              <a:latin typeface="Times New Roma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2651760" cy="23682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26517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011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/>
              </a:rPr>
              <a:t>💼 Industry Standard</a:t>
            </a:r>
            <a:endParaRPr lang="en-US" sz="1400" dirty="0">
              <a:latin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2616674"/>
            <a:ext cx="2377440" cy="1447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Times New Roman"/>
              </a:rPr>
              <a:t>ML is now used routinely at major asset managers (Two Sigma, WorldQuant, Man AHL, Renaissance). Understanding these methods is required to communicate, evaluate, or work alongside quant teams.</a:t>
            </a:r>
            <a:endParaRPr lang="en-US" sz="1300" dirty="0">
              <a:latin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0" y="2011680"/>
            <a:ext cx="2651760" cy="23682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2011680"/>
            <a:ext cx="2651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0" y="2011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/>
              </a:rPr>
              <a:t>📊 Research Tool</a:t>
            </a:r>
            <a:endParaRPr lang="en-US" sz="1400" dirty="0">
              <a:latin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37560" y="2487168"/>
            <a:ext cx="2377440" cy="1447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Times New Roman"/>
              </a:rPr>
              <a:t>GKX (2020) appeared in the Review of Financial Studies — the top finance journal. ML literacy is now expected of PhD students and researchers in empirical finance.</a:t>
            </a:r>
            <a:endParaRPr lang="en-US" sz="1300" dirty="0">
              <a:latin typeface="Times New Roma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35040" y="2011680"/>
            <a:ext cx="2651760" cy="23682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35040" y="2011680"/>
            <a:ext cx="26517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0" y="2011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/>
              </a:rPr>
              <a:t>🔍 Critical Evaluation</a:t>
            </a:r>
            <a:endParaRPr lang="en-US" sz="1400" dirty="0">
              <a:latin typeface="Times New Roma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72200" y="2616674"/>
            <a:ext cx="2377440" cy="1447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Times New Roman"/>
              </a:rPr>
              <a:t>You will encounter ML-generated outputs throughout your career — in reports, tools, and advice. Without understanding the method, you cannot identify when the output is wrong, overfitted, or misleading.</a:t>
            </a:r>
            <a:endParaRPr lang="en-US" sz="1300" dirty="0">
              <a:latin typeface="Times New Roman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65760" y="4517136"/>
            <a:ext cx="8412480" cy="536501"/>
          </a:xfrm>
          <a:prstGeom prst="rect">
            <a:avLst/>
          </a:prstGeom>
          <a:solidFill>
            <a:srgbClr val="EFF6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4517136"/>
            <a:ext cx="45720" cy="53650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60092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3A8A"/>
                </a:solidFill>
                <a:latin typeface="Times New Roman"/>
              </a:rPr>
              <a:t>🧠  Signal-to-noise ≈ 0.03 means: ~3% of return variation is predictable; 97% is noise no model can predict. Even the best ML achieves very low R² on financial data.</a:t>
            </a:r>
            <a:endParaRPr lang="en-US" sz="13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40382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The ML Pipeline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7"/>
                </a:solidFill>
                <a:latin typeface="Times New Roman"/>
              </a:rPr>
              <a:t>Every ML project follows this structure — understanding it matters more than knowing any specific algorithm</a:t>
            </a:r>
            <a:endParaRPr lang="en-US" sz="1100" dirty="0">
              <a:latin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1234440" cy="50292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051560"/>
            <a:ext cx="1234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/>
              </a:rPr>
              <a:t>1. Load Data</a:t>
            </a:r>
            <a:endParaRPr lang="en-US" sz="1100" dirty="0">
              <a:latin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81912" y="105156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oppins"/>
              </a:rPr>
              <a:t>→</a:t>
            </a:r>
            <a:endParaRPr lang="en-US" sz="1400" dirty="0">
              <a:latin typeface="Poppin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10512" y="1051560"/>
            <a:ext cx="1234440" cy="50292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10512" y="1051560"/>
            <a:ext cx="1234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/>
              </a:rPr>
              <a:t>2. Engineer Features</a:t>
            </a:r>
            <a:endParaRPr lang="en-US" sz="1100" dirty="0">
              <a:latin typeface="Times New Roman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044952" y="105156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oppins"/>
              </a:rPr>
              <a:t>→</a:t>
            </a:r>
            <a:endParaRPr lang="en-US" sz="1400" dirty="0">
              <a:latin typeface="Poppin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73552" y="1051560"/>
            <a:ext cx="1234440" cy="50292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73552" y="1051560"/>
            <a:ext cx="1234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/>
              </a:rPr>
              <a:t>3. Train / Test Split</a:t>
            </a:r>
            <a:endParaRPr lang="en-US" sz="1100" dirty="0">
              <a:latin typeface="Times New Roman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07992" y="105156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oppins"/>
              </a:rPr>
              <a:t>→</a:t>
            </a:r>
            <a:endParaRPr lang="en-US" sz="1400" dirty="0">
              <a:latin typeface="Poppin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36592" y="1051560"/>
            <a:ext cx="1234440" cy="50292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36592" y="1051560"/>
            <a:ext cx="1234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/>
              </a:rPr>
              <a:t>4. Fit Model</a:t>
            </a:r>
            <a:endParaRPr lang="en-US" sz="1100" dirty="0">
              <a:latin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71032" y="105156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oppins"/>
              </a:rPr>
              <a:t>→</a:t>
            </a:r>
            <a:endParaRPr lang="en-US" sz="1400" dirty="0">
              <a:latin typeface="Poppin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99632" y="1051560"/>
            <a:ext cx="1234440" cy="50292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99632" y="1051560"/>
            <a:ext cx="1234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/>
              </a:rPr>
              <a:t>5. Predict on Test</a:t>
            </a:r>
            <a:endParaRPr lang="en-US" sz="1100" dirty="0">
              <a:latin typeface="Times New Roma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34072" y="105156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oppins"/>
              </a:rPr>
              <a:t>→</a:t>
            </a:r>
            <a:endParaRPr lang="en-US" sz="1400" dirty="0">
              <a:latin typeface="Poppin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662672" y="1051560"/>
            <a:ext cx="1234440" cy="50292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62672" y="1051560"/>
            <a:ext cx="1234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/>
              </a:rPr>
              <a:t>6. Evaluate</a:t>
            </a:r>
            <a:endParaRPr lang="en-US" sz="1100" dirty="0">
              <a:latin typeface="Times New Roman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5760" y="1674690"/>
            <a:ext cx="265176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1715786"/>
            <a:ext cx="54864" cy="1353312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" y="176613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Times New Roman"/>
              </a:rPr>
              <a:t>1. Load Data</a:t>
            </a:r>
            <a:endParaRPr lang="en-US" sz="1300" dirty="0">
              <a:latin typeface="Times New Roman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30352" y="208617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Times New Roman"/>
              </a:rPr>
              <a:t>Download or import raw data. In finance: CRSP, Compustat, q5 factors. In Python: pandas.</a:t>
            </a:r>
            <a:endParaRPr lang="en-US" sz="1300" dirty="0">
              <a:latin typeface="Times New Roman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00400" y="1674690"/>
            <a:ext cx="265176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0" y="1674690"/>
            <a:ext cx="54864" cy="13533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64992" y="176613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Times New Roman"/>
              </a:rPr>
              <a:t>2. Engineer Features</a:t>
            </a:r>
            <a:endParaRPr lang="en-US" sz="1300" dirty="0">
              <a:latin typeface="Times New Roman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364992" y="208617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Times New Roman"/>
              </a:rPr>
              <a:t>Create predictive variables (X). Cross-section rank transforms, lags, interactions. Crucial step.</a:t>
            </a:r>
            <a:endParaRPr lang="en-US" sz="1300" dirty="0">
              <a:latin typeface="Times New Roman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035040" y="1674690"/>
            <a:ext cx="265176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35040" y="1674690"/>
            <a:ext cx="54864" cy="13533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99632" y="176613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Times New Roman"/>
              </a:rPr>
              <a:t>3. Train / Test Split</a:t>
            </a:r>
            <a:endParaRPr lang="en-US" sz="1300" dirty="0">
              <a:latin typeface="Times New Roman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199632" y="208617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Times New Roman"/>
              </a:rPr>
              <a:t>Strict temporal split: training data comes BEFORE test data. No future data leakage allowed.</a:t>
            </a:r>
            <a:endParaRPr lang="en-US" sz="1300" dirty="0">
              <a:latin typeface="Times New Roman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65760" y="3101258"/>
            <a:ext cx="265176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65760" y="3111532"/>
            <a:ext cx="54864" cy="13533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0352" y="319269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Times New Roman"/>
              </a:rPr>
              <a:t>4. Fit Model</a:t>
            </a:r>
            <a:endParaRPr lang="en-US" sz="1300" dirty="0">
              <a:latin typeface="Times New Roman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30352" y="351273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Times New Roman"/>
              </a:rPr>
              <a:t>Train the model on training data only. Choose algorithm: OLS, Ridge, GBM, Neural Net, etc.</a:t>
            </a:r>
            <a:endParaRPr lang="en-US" sz="1300" dirty="0">
              <a:latin typeface="Times New Roman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200400" y="3101258"/>
            <a:ext cx="265176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200400" y="3111532"/>
            <a:ext cx="54864" cy="13533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364992" y="319269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Times New Roman"/>
              </a:rPr>
              <a:t>5. Predict on Test</a:t>
            </a:r>
            <a:endParaRPr lang="en-US" sz="1300" dirty="0">
              <a:latin typeface="Times New Roman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364992" y="351273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Times New Roman"/>
              </a:rPr>
              <a:t>Apply trained model to held-out test data. The model has never seen these observations.</a:t>
            </a:r>
            <a:endParaRPr lang="en-US" sz="1300" dirty="0">
              <a:latin typeface="Times New Roman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035040" y="3101258"/>
            <a:ext cx="265176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035040" y="3101258"/>
            <a:ext cx="54864" cy="13533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199632" y="319269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Times New Roman"/>
              </a:rPr>
              <a:t>6. Evaluate</a:t>
            </a:r>
            <a:endParaRPr lang="en-US" sz="1300" dirty="0">
              <a:latin typeface="Times New Roman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199632" y="351273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Times New Roman"/>
              </a:rPr>
              <a:t>Compute out-of-sample metrics: MSE, R², Sharpe ratio. Only this step tells you if the model works.</a:t>
            </a:r>
            <a:endParaRPr lang="en-US" sz="1300" dirty="0">
              <a:latin typeface="Times New Roman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95761" y="4592911"/>
            <a:ext cx="8382479" cy="461973"/>
          </a:xfrm>
          <a:prstGeom prst="rect">
            <a:avLst/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65760" y="4587593"/>
            <a:ext cx="45719" cy="467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7200" y="4647503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2400E"/>
                </a:solidFill>
                <a:latin typeface="Times New Roman"/>
              </a:rPr>
              <a:t>⚠  Critical rule: the model never sees test data during training. Data leakage (e.g. normalising using the full dataset) invalidates the evaluation — equivalent to look-ahead bias in sorted portfolios.</a:t>
            </a:r>
            <a:endParaRPr lang="en-US" sz="11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6630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The Bias-Variance Tradeoff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7"/>
                </a:solidFill>
                <a:latin typeface="Times New Roman"/>
              </a:rPr>
              <a:t>The central challenge of supervised machine learning</a:t>
            </a:r>
            <a:endParaRPr lang="en-US" sz="1100" dirty="0">
              <a:latin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572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>
              <a:latin typeface="Poppin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2651760" cy="2011680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26517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Times New Roman"/>
              </a:rPr>
              <a:t>Bias²  (Underfitting)</a:t>
            </a:r>
            <a:endParaRPr lang="en-US" sz="1300" dirty="0">
              <a:latin typeface="Times New Roman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Times New Roman"/>
              </a:rPr>
              <a:t>Too-simple model</a:t>
            </a:r>
            <a:endParaRPr lang="en-US" sz="1100" dirty="0">
              <a:latin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251460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Times New Roman"/>
              </a:rPr>
              <a:t>Error from overly simplistic assumptions. A linear model fit to genuinely non-linear data has high bias. Model cannot capture the true pattern.</a:t>
            </a:r>
            <a:endParaRPr lang="en-US" sz="1300" dirty="0">
              <a:latin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0" y="1828800"/>
            <a:ext cx="2651760" cy="2011680"/>
          </a:xfrm>
          <a:prstGeom prst="rect">
            <a:avLst/>
          </a:prstGeom>
          <a:solidFill>
            <a:srgbClr val="FFF1F2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1828800"/>
            <a:ext cx="2651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7560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Times New Roman"/>
              </a:rPr>
              <a:t>Variance  (Overfitting)</a:t>
            </a:r>
            <a:endParaRPr lang="en-US" sz="1300" dirty="0">
              <a:latin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37560" y="2286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Times New Roman"/>
              </a:rPr>
              <a:t>Too-complex model</a:t>
            </a:r>
            <a:endParaRPr lang="en-US" sz="1100" dirty="0">
              <a:latin typeface="Times New Roman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37560" y="251460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Times New Roman"/>
              </a:rPr>
              <a:t>Error from excessive sensitivity to training data. A deeply grown decision tree memorises training noise. Fails completely on new data.</a:t>
            </a:r>
            <a:endParaRPr lang="en-US" sz="1300" dirty="0">
              <a:latin typeface="Times New Roman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35040" y="1828800"/>
            <a:ext cx="2651760" cy="2011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35040" y="1828800"/>
            <a:ext cx="26517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72200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Times New Roman"/>
              </a:rPr>
              <a:t>σ²ε  (Irreducible)</a:t>
            </a:r>
            <a:endParaRPr lang="en-US" sz="1300" dirty="0">
              <a:latin typeface="Times New Roman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72200" y="2286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Times New Roman"/>
              </a:rPr>
              <a:t>Noise floor</a:t>
            </a:r>
            <a:endParaRPr lang="en-US" sz="1100" dirty="0">
              <a:latin typeface="Times New Roman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72200" y="251460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Times New Roman"/>
              </a:rPr>
              <a:t>Noise inherent in the data that no model can eliminate. In finance with signal-to-noise ≈ 0.03, this is the dominant component by far.</a:t>
            </a:r>
            <a:endParaRPr lang="en-US" sz="1300" dirty="0">
              <a:latin typeface="Times New Roman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65760" y="3968203"/>
            <a:ext cx="8412480" cy="658368"/>
          </a:xfrm>
          <a:prstGeom prst="rect">
            <a:avLst/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76B7CF4-5513-86CB-23A3-9FAE819B140E}"/>
              </a:ext>
            </a:extLst>
          </p:cNvPr>
          <p:cNvGrpSpPr/>
          <p:nvPr/>
        </p:nvGrpSpPr>
        <p:grpSpPr>
          <a:xfrm>
            <a:off x="365760" y="3976793"/>
            <a:ext cx="8366760" cy="658367"/>
            <a:chOff x="365760" y="3939317"/>
            <a:chExt cx="8366760" cy="658367"/>
          </a:xfrm>
        </p:grpSpPr>
        <p:sp>
          <p:nvSpPr>
            <p:cNvPr id="25" name="Shape 22"/>
            <p:cNvSpPr/>
            <p:nvPr/>
          </p:nvSpPr>
          <p:spPr>
            <a:xfrm>
              <a:off x="365760" y="3939317"/>
              <a:ext cx="45720" cy="658367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3"/>
            <p:cNvSpPr/>
            <p:nvPr/>
          </p:nvSpPr>
          <p:spPr>
            <a:xfrm>
              <a:off x="502920" y="3983193"/>
              <a:ext cx="82296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92400E"/>
                  </a:solidFill>
                  <a:latin typeface="Times New Roman"/>
                </a:rPr>
                <a:t>📌  Finance context: signal-to-noise ≈ 0.03 pushes the optimal complexity point far to the left — very simple models win. Deep neural nets overfit catastrophically without heavy regularisation.</a:t>
              </a:r>
              <a:endParaRPr lang="en-US" sz="1100" dirty="0">
                <a:latin typeface="Times New Roman"/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966A7FEF-2153-9361-A439-CFD37240F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9022" y="1014984"/>
            <a:ext cx="3685955" cy="611372"/>
          </a:xfrm>
          <a:prstGeom prst="rect">
            <a:avLst/>
          </a:prstGeom>
        </p:spPr>
      </p:pic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1903773042"/>
              </p:ext>
            </p:extLst>
          </p:nvPr>
        </p:nvGraphicFramePr>
        <p:xfrm>
          <a:off x="365760" y="1635500"/>
          <a:ext cx="8458200" cy="33641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4203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>
        <p:bldAsOne/>
      </p:bldGraphic>
      <p:bldGraphic spid="23" grpId="1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A Complete 27-Line Python ML Example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7"/>
                </a:solidFill>
                <a:latin typeface="Times New Roman"/>
              </a:rPr>
              <a:t>Download real data · train 5 models · compare out-of-sample accuracy</a:t>
            </a:r>
            <a:endParaRPr lang="en-US" sz="1100" dirty="0">
              <a:latin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Times New Roman"/>
              </a:rPr>
              <a:t>Task</a:t>
            </a:r>
            <a:endParaRPr lang="en-US" sz="1100" dirty="0">
              <a:latin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29844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Times New Roman"/>
              </a:rPr>
              <a:t>Predict next month's market excess return (Rᴹᴷᵀ</a:t>
            </a:r>
            <a:r>
              <a:rPr lang="en-US" sz="1300" baseline="-25000" dirty="0">
                <a:solidFill>
                  <a:srgbClr val="1E293B"/>
                </a:solidFill>
                <a:latin typeface="Times New Roman"/>
              </a:rPr>
              <a:t>t+1</a:t>
            </a:r>
            <a:r>
              <a:rPr lang="en-US" sz="1300" dirty="0">
                <a:solidFill>
                  <a:srgbClr val="1E293B"/>
                </a:solidFill>
                <a:latin typeface="Times New Roman"/>
              </a:rPr>
              <a:t>) using the current month's HXZ q5 factors (Rᴹᴷᵀ</a:t>
            </a:r>
            <a:r>
              <a:rPr lang="en-US" sz="1300" baseline="-25000" dirty="0">
                <a:solidFill>
                  <a:srgbClr val="1E293B"/>
                </a:solidFill>
                <a:latin typeface="Times New Roman"/>
              </a:rPr>
              <a:t>t </a:t>
            </a:r>
            <a:r>
              <a:rPr lang="en-US" sz="1300" dirty="0">
                <a:solidFill>
                  <a:srgbClr val="1E293B"/>
                </a:solidFill>
                <a:latin typeface="Times New Roman"/>
              </a:rPr>
              <a:t>, Rᴹᴱ</a:t>
            </a:r>
            <a:r>
              <a:rPr lang="en-US" sz="1300" baseline="-25000" dirty="0">
                <a:solidFill>
                  <a:srgbClr val="1E293B"/>
                </a:solidFill>
                <a:latin typeface="Times New Roman"/>
              </a:rPr>
              <a:t>t </a:t>
            </a:r>
            <a:r>
              <a:rPr lang="en-US" sz="1300" dirty="0">
                <a:solidFill>
                  <a:srgbClr val="1E293B"/>
                </a:solidFill>
                <a:latin typeface="Times New Roman"/>
              </a:rPr>
              <a:t>, Rᴵᴬ</a:t>
            </a:r>
            <a:r>
              <a:rPr lang="en-US" sz="1300" baseline="-25000" dirty="0">
                <a:solidFill>
                  <a:srgbClr val="1E293B"/>
                </a:solidFill>
                <a:latin typeface="Times New Roman"/>
              </a:rPr>
              <a:t>t </a:t>
            </a:r>
            <a:r>
              <a:rPr lang="en-US" sz="1300" dirty="0">
                <a:solidFill>
                  <a:srgbClr val="1E293B"/>
                </a:solidFill>
                <a:latin typeface="Times New Roman"/>
              </a:rPr>
              <a:t>, Rᴿᴼᴱ</a:t>
            </a:r>
            <a:r>
              <a:rPr lang="en-US" sz="1300" baseline="-25000" dirty="0">
                <a:solidFill>
                  <a:srgbClr val="1E293B"/>
                </a:solidFill>
                <a:latin typeface="Times New Roman"/>
              </a:rPr>
              <a:t>t </a:t>
            </a:r>
            <a:r>
              <a:rPr lang="en-US" sz="1300" dirty="0">
                <a:solidFill>
                  <a:srgbClr val="1E293B"/>
                </a:solidFill>
                <a:latin typeface="Times New Roman"/>
              </a:rPr>
              <a:t>, Rᴱᴳ</a:t>
            </a:r>
            <a:r>
              <a:rPr lang="en-US" sz="1300" baseline="-25000" dirty="0">
                <a:solidFill>
                  <a:srgbClr val="1E293B"/>
                </a:solidFill>
                <a:latin typeface="Times New Roman"/>
              </a:rPr>
              <a:t>t</a:t>
            </a:r>
            <a:r>
              <a:rPr lang="en-US" sz="1300" dirty="0">
                <a:solidFill>
                  <a:srgbClr val="1E293B"/>
                </a:solidFill>
                <a:latin typeface="Times New Roman"/>
              </a:rPr>
              <a:t>) plus the risk-free rate (</a:t>
            </a:r>
            <a:r>
              <a:rPr lang="en-US" sz="1300" dirty="0" err="1">
                <a:solidFill>
                  <a:srgbClr val="1E293B"/>
                </a:solidFill>
                <a:latin typeface="Times New Roman"/>
              </a:rPr>
              <a:t>RF</a:t>
            </a:r>
            <a:r>
              <a:rPr lang="en-US" sz="1300" baseline="-25000" dirty="0" err="1">
                <a:solidFill>
                  <a:srgbClr val="1E293B"/>
                </a:solidFill>
                <a:latin typeface="Times New Roman"/>
              </a:rPr>
              <a:t>t</a:t>
            </a:r>
            <a:r>
              <a:rPr lang="en-US" sz="1300" dirty="0">
                <a:solidFill>
                  <a:srgbClr val="1E293B"/>
                </a:solidFill>
                <a:latin typeface="Times New Roman"/>
              </a:rPr>
              <a:t>). Data from global-</a:t>
            </a:r>
            <a:r>
              <a:rPr lang="en-US" sz="1300" dirty="0" err="1">
                <a:solidFill>
                  <a:srgbClr val="1E293B"/>
                </a:solidFill>
                <a:latin typeface="Times New Roman"/>
              </a:rPr>
              <a:t>q.org</a:t>
            </a:r>
            <a:r>
              <a:rPr lang="en-US" sz="1300" dirty="0">
                <a:solidFill>
                  <a:srgbClr val="1E293B"/>
                </a:solidFill>
                <a:latin typeface="Times New Roman"/>
              </a:rPr>
              <a:t>.</a:t>
            </a:r>
            <a:endParaRPr lang="en-US" sz="1300" dirty="0">
              <a:latin typeface="Times New Roman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Times New Roman"/>
              </a:rPr>
              <a:t>Five competing models:</a:t>
            </a:r>
            <a:endParaRPr lang="en-US" sz="1300" dirty="0">
              <a:latin typeface="Times New Roma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155448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/>
              </a:rPr>
              <a:t>OLS</a:t>
            </a:r>
            <a:endParaRPr lang="en-US" sz="1200" dirty="0">
              <a:latin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25877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/>
              </a:rPr>
              <a:t>Linear regression</a:t>
            </a:r>
            <a:endParaRPr lang="en-US" sz="1100" dirty="0">
              <a:latin typeface="Times New Roman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920240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/>
              </a:rPr>
              <a:t>vs</a:t>
            </a:r>
            <a:endParaRPr lang="en-US" sz="1000" dirty="0">
              <a:latin typeface="Times New Roman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048256" y="2240280"/>
            <a:ext cx="155448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48256" y="2240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/>
              </a:rPr>
              <a:t>Ridge</a:t>
            </a:r>
            <a:endParaRPr lang="en-US" sz="1200" dirty="0">
              <a:latin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048256" y="25877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/>
              </a:rPr>
              <a:t>Regularised OLS  (α = 2)</a:t>
            </a:r>
            <a:endParaRPr lang="en-US" sz="1100" dirty="0">
              <a:latin typeface="Times New Roman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02736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/>
              </a:rPr>
              <a:t>vs</a:t>
            </a:r>
            <a:endParaRPr lang="en-US" sz="1000" dirty="0">
              <a:latin typeface="Times New Roman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730752" y="2240280"/>
            <a:ext cx="155448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30752" y="2240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/>
              </a:rPr>
              <a:t>Tree</a:t>
            </a:r>
            <a:endParaRPr lang="en-US" sz="1200" dirty="0">
              <a:latin typeface="Times New Roma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730752" y="25877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/>
              </a:rPr>
              <a:t>Single decision tree</a:t>
            </a:r>
            <a:endParaRPr lang="en-US" sz="1100" dirty="0">
              <a:latin typeface="Times New Roman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285232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/>
              </a:rPr>
              <a:t>vs</a:t>
            </a:r>
            <a:endParaRPr lang="en-US" sz="1000" dirty="0">
              <a:latin typeface="Times New Roman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13248" y="2240280"/>
            <a:ext cx="155448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13248" y="2240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/>
              </a:rPr>
              <a:t>GBM</a:t>
            </a:r>
            <a:endParaRPr lang="en-US" sz="1200" dirty="0">
              <a:latin typeface="Times New Roma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13248" y="25877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/>
              </a:rPr>
              <a:t>Gradient boosted trees</a:t>
            </a:r>
            <a:endParaRPr lang="en-US" sz="1100" dirty="0">
              <a:latin typeface="Times New Roman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967728" y="235915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/>
              </a:rPr>
              <a:t>vs</a:t>
            </a:r>
            <a:endParaRPr lang="en-US" sz="1000" dirty="0">
              <a:latin typeface="Times New Roman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095744" y="2240280"/>
            <a:ext cx="155448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95744" y="2240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/>
              </a:rPr>
              <a:t>NeuralNet</a:t>
            </a:r>
            <a:endParaRPr lang="en-US" sz="1200" dirty="0">
              <a:latin typeface="Times New Roman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095744" y="25877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/>
              </a:rPr>
              <a:t>MLP  (early stopping)</a:t>
            </a:r>
            <a:endParaRPr lang="en-US" sz="1100" dirty="0">
              <a:latin typeface="Times New Roman"/>
            </a:endParaRPr>
          </a:p>
        </p:txBody>
      </p:sp>
      <p:sp>
        <p:nvSpPr>
          <p:cNvPr id="29" name="Shape 27">
            <a:hlinkClick r:id="rId3"/>
          </p:cNvPr>
          <p:cNvSpPr/>
          <p:nvPr/>
        </p:nvSpPr>
        <p:spPr>
          <a:xfrm>
            <a:off x="365760" y="3063240"/>
            <a:ext cx="8412480" cy="20802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310896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100" dirty="0">
              <a:latin typeface="Times New Roman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02920" y="328726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ea typeface="Consolas" pitchFamily="34" charset="-122"/>
                <a:cs typeface="Consolas" pitchFamily="34" charset="-120"/>
              </a:rPr>
              <a:t>from sklearn.linear_model import LinearRegression, Ridge</a:t>
            </a:r>
            <a:endParaRPr lang="en-US" sz="1100" dirty="0">
              <a:latin typeface="Times New Roman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02920" y="34655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ea typeface="Consolas" pitchFamily="34" charset="-122"/>
                <a:cs typeface="Consolas" pitchFamily="34" charset="-120"/>
              </a:rPr>
              <a:t>from sklearn.tree import DecisionTreeRegressor</a:t>
            </a:r>
            <a:endParaRPr lang="en-US" sz="1100" dirty="0">
              <a:latin typeface="Times New Roman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02920" y="364388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ea typeface="Consolas" pitchFamily="34" charset="-122"/>
                <a:cs typeface="Consolas" pitchFamily="34" charset="-120"/>
              </a:rPr>
              <a:t>from sklearn.ensemble import GradientBoostingRegressor</a:t>
            </a:r>
            <a:endParaRPr lang="en-US" sz="1100" dirty="0">
              <a:latin typeface="Times New Roman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02920" y="38221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ea typeface="Consolas" pitchFamily="34" charset="-122"/>
                <a:cs typeface="Consolas" pitchFamily="34" charset="-120"/>
              </a:rPr>
              <a:t>from sklearn.neural_network import MLPRegressor</a:t>
            </a:r>
            <a:endParaRPr lang="en-US" sz="1100" dirty="0">
              <a:latin typeface="Times New Roman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02920" y="400050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ea typeface="Consolas" pitchFamily="34" charset="-122"/>
                <a:cs typeface="Consolas" pitchFamily="34" charset="-120"/>
              </a:rPr>
              <a:t>from sklearn.metrics import mean_squared_error</a:t>
            </a:r>
            <a:endParaRPr lang="en-US" sz="1100" dirty="0">
              <a:latin typeface="Times New Roman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02920" y="417880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Times New Roman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02920" y="435711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ea typeface="Consolas" pitchFamily="34" charset="-122"/>
                <a:cs typeface="Consolas" pitchFamily="34" charset="-120"/>
              </a:rPr>
              <a:t>df = pd.read_csv("http://global-q.org/...q5_factors_monthly.csv")</a:t>
            </a:r>
            <a:endParaRPr lang="en-US" sz="1050" dirty="0">
              <a:latin typeface="Times New Roman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02920" y="453542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E68A"/>
                </a:solidFill>
                <a:ea typeface="Consolas" pitchFamily="34" charset="-122"/>
                <a:cs typeface="Consolas" pitchFamily="34" charset="-120"/>
              </a:rPr>
              <a:t>df["R_FWD_MKT"] = df["R_MKT"].shift(-1)       # target: next-month mkt</a:t>
            </a:r>
            <a:endParaRPr lang="en-US" sz="1050" dirty="0">
              <a:latin typeface="Times New Roman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02920" y="471373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  <a:ea typeface="Consolas" pitchFamily="34" charset="-122"/>
                <a:cs typeface="Consolas" pitchFamily="34" charset="-120"/>
              </a:rPr>
              <a:t>D_train = df[df["year"] &lt; 2000].dropna()       # pre-2000 = train</a:t>
            </a:r>
            <a:endParaRPr lang="en-US" sz="1050" dirty="0">
              <a:latin typeface="Times New Roman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02920" y="489204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  <a:ea typeface="Consolas" pitchFamily="34" charset="-122"/>
                <a:cs typeface="Consolas" pitchFamily="34" charset="-120"/>
              </a:rPr>
              <a:t>D_test  = df[df["year"] &gt;= 2000].dropna()      # 2000+    = test</a:t>
            </a:r>
            <a:endParaRPr lang="en-US" sz="105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6293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56696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Model Results — Out-of-Sample MSE</a:t>
            </a:r>
            <a:endParaRPr lang="en-US" sz="2200" dirty="0">
              <a:latin typeface="Poppins"/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87552"/>
          <a:ext cx="4206240" cy="3244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65" name="Group 64">
            <a:extLst>
              <a:ext uri="{FF2B5EF4-FFF2-40B4-BE49-F238E27FC236}">
                <a16:creationId xmlns:a16="http://schemas.microsoft.com/office/drawing/2014/main" id="{19C06AFD-EDB7-8A21-8393-290C3A08A7A5}"/>
              </a:ext>
            </a:extLst>
          </p:cNvPr>
          <p:cNvGrpSpPr/>
          <p:nvPr/>
        </p:nvGrpSpPr>
        <p:grpSpPr>
          <a:xfrm>
            <a:off x="4839492" y="889012"/>
            <a:ext cx="3899774" cy="2121408"/>
            <a:chOff x="5486400" y="987552"/>
            <a:chExt cx="5394960" cy="2304288"/>
          </a:xfrm>
        </p:grpSpPr>
        <p:sp>
          <p:nvSpPr>
            <p:cNvPr id="6" name="Shape 3"/>
            <p:cNvSpPr/>
            <p:nvPr/>
          </p:nvSpPr>
          <p:spPr>
            <a:xfrm>
              <a:off x="5486400" y="987552"/>
              <a:ext cx="914400" cy="384048"/>
            </a:xfrm>
            <a:prstGeom prst="rect">
              <a:avLst/>
            </a:prstGeom>
            <a:solidFill>
              <a:srgbClr val="1A2C5B"/>
            </a:solidFill>
            <a:ln w="5080">
              <a:solidFill>
                <a:srgbClr val="1E3A8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4"/>
            <p:cNvSpPr/>
            <p:nvPr/>
          </p:nvSpPr>
          <p:spPr>
            <a:xfrm>
              <a:off x="5486400" y="987552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 err="1">
                  <a:solidFill>
                    <a:srgbClr val="FFFFFF"/>
                  </a:solidFill>
                  <a:latin typeface="Times New Roman"/>
                </a:rPr>
                <a:t>Modelz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8" name="Shape 5"/>
            <p:cNvSpPr/>
            <p:nvPr/>
          </p:nvSpPr>
          <p:spPr>
            <a:xfrm>
              <a:off x="6400800" y="987552"/>
              <a:ext cx="2468880" cy="384048"/>
            </a:xfrm>
            <a:prstGeom prst="rect">
              <a:avLst/>
            </a:prstGeom>
            <a:solidFill>
              <a:srgbClr val="1A2C5B"/>
            </a:solidFill>
            <a:ln w="5080">
              <a:solidFill>
                <a:srgbClr val="1E3A8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6400800" y="987552"/>
              <a:ext cx="2468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Times New Roman"/>
                </a:rPr>
                <a:t>Type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10" name="Shape 7"/>
            <p:cNvSpPr/>
            <p:nvPr/>
          </p:nvSpPr>
          <p:spPr>
            <a:xfrm>
              <a:off x="8869680" y="987552"/>
              <a:ext cx="914400" cy="384048"/>
            </a:xfrm>
            <a:prstGeom prst="rect">
              <a:avLst/>
            </a:prstGeom>
            <a:solidFill>
              <a:srgbClr val="1A2C5B"/>
            </a:solidFill>
            <a:ln w="5080">
              <a:solidFill>
                <a:srgbClr val="1E3A8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8"/>
            <p:cNvSpPr/>
            <p:nvPr/>
          </p:nvSpPr>
          <p:spPr>
            <a:xfrm>
              <a:off x="8869680" y="987552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Times New Roman"/>
                </a:rPr>
                <a:t>MSE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12" name="Shape 9"/>
            <p:cNvSpPr/>
            <p:nvPr/>
          </p:nvSpPr>
          <p:spPr>
            <a:xfrm>
              <a:off x="9784080" y="987552"/>
              <a:ext cx="1097280" cy="384048"/>
            </a:xfrm>
            <a:prstGeom prst="rect">
              <a:avLst/>
            </a:prstGeom>
            <a:solidFill>
              <a:srgbClr val="1A2C5B"/>
            </a:solidFill>
            <a:ln w="5080">
              <a:solidFill>
                <a:srgbClr val="1E3A8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0"/>
            <p:cNvSpPr/>
            <p:nvPr/>
          </p:nvSpPr>
          <p:spPr>
            <a:xfrm>
              <a:off x="9784080" y="987552"/>
              <a:ext cx="10972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Times New Roman"/>
                </a:rPr>
                <a:t>Rank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14" name="Shape 11"/>
            <p:cNvSpPr/>
            <p:nvPr/>
          </p:nvSpPr>
          <p:spPr>
            <a:xfrm>
              <a:off x="5486400" y="1371600"/>
              <a:ext cx="914400" cy="384048"/>
            </a:xfrm>
            <a:prstGeom prst="rect">
              <a:avLst/>
            </a:prstGeom>
            <a:solidFill>
              <a:srgbClr val="F0FDF4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2"/>
            <p:cNvSpPr/>
            <p:nvPr/>
          </p:nvSpPr>
          <p:spPr>
            <a:xfrm>
              <a:off x="5532120" y="1371600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166534"/>
                  </a:solidFill>
                  <a:latin typeface="Times New Roman"/>
                </a:rPr>
                <a:t>GBM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16" name="Shape 13"/>
            <p:cNvSpPr/>
            <p:nvPr/>
          </p:nvSpPr>
          <p:spPr>
            <a:xfrm>
              <a:off x="6400800" y="1371600"/>
              <a:ext cx="2468880" cy="384048"/>
            </a:xfrm>
            <a:prstGeom prst="rect">
              <a:avLst/>
            </a:prstGeom>
            <a:solidFill>
              <a:srgbClr val="F0FDF4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4"/>
            <p:cNvSpPr/>
            <p:nvPr/>
          </p:nvSpPr>
          <p:spPr>
            <a:xfrm>
              <a:off x="6446520" y="1371600"/>
              <a:ext cx="24231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66534"/>
                  </a:solidFill>
                  <a:latin typeface="Times New Roman"/>
                </a:rPr>
                <a:t>Ensemble (gradient boosted trees)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18" name="Shape 15"/>
            <p:cNvSpPr/>
            <p:nvPr/>
          </p:nvSpPr>
          <p:spPr>
            <a:xfrm>
              <a:off x="8869680" y="1371600"/>
              <a:ext cx="914400" cy="384048"/>
            </a:xfrm>
            <a:prstGeom prst="rect">
              <a:avLst/>
            </a:prstGeom>
            <a:solidFill>
              <a:srgbClr val="F0FDF4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6"/>
            <p:cNvSpPr/>
            <p:nvPr/>
          </p:nvSpPr>
          <p:spPr>
            <a:xfrm>
              <a:off x="8915400" y="1371600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66534"/>
                  </a:solidFill>
                  <a:latin typeface="Times New Roman"/>
                </a:rPr>
                <a:t>18.41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20" name="Shape 17"/>
            <p:cNvSpPr/>
            <p:nvPr/>
          </p:nvSpPr>
          <p:spPr>
            <a:xfrm>
              <a:off x="9784080" y="1371600"/>
              <a:ext cx="1097280" cy="384048"/>
            </a:xfrm>
            <a:prstGeom prst="rect">
              <a:avLst/>
            </a:prstGeom>
            <a:solidFill>
              <a:srgbClr val="F0FDF4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8"/>
            <p:cNvSpPr/>
            <p:nvPr/>
          </p:nvSpPr>
          <p:spPr>
            <a:xfrm>
              <a:off x="9829800" y="1371600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66534"/>
                  </a:solidFill>
                  <a:latin typeface="Times New Roman"/>
                </a:rPr>
                <a:t>🥇 Best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22" name="Shape 19"/>
            <p:cNvSpPr/>
            <p:nvPr/>
          </p:nvSpPr>
          <p:spPr>
            <a:xfrm>
              <a:off x="5486400" y="1755648"/>
              <a:ext cx="914400" cy="384048"/>
            </a:xfrm>
            <a:prstGeom prst="rect">
              <a:avLst/>
            </a:prstGeom>
            <a:solidFill>
              <a:srgbClr val="F8FAFC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0"/>
            <p:cNvSpPr/>
            <p:nvPr/>
          </p:nvSpPr>
          <p:spPr>
            <a:xfrm>
              <a:off x="5532120" y="1755648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1E293B"/>
                  </a:solidFill>
                  <a:latin typeface="Times New Roman"/>
                </a:rPr>
                <a:t>Ridge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24" name="Shape 21"/>
            <p:cNvSpPr/>
            <p:nvPr/>
          </p:nvSpPr>
          <p:spPr>
            <a:xfrm>
              <a:off x="6400800" y="1755648"/>
              <a:ext cx="2468880" cy="384048"/>
            </a:xfrm>
            <a:prstGeom prst="rect">
              <a:avLst/>
            </a:prstGeom>
            <a:solidFill>
              <a:srgbClr val="F8FAFC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22"/>
            <p:cNvSpPr/>
            <p:nvPr/>
          </p:nvSpPr>
          <p:spPr>
            <a:xfrm>
              <a:off x="6446520" y="1755648"/>
              <a:ext cx="24231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Times New Roman"/>
                </a:rPr>
                <a:t>Linear (regularised OLS)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26" name="Shape 23"/>
            <p:cNvSpPr/>
            <p:nvPr/>
          </p:nvSpPr>
          <p:spPr>
            <a:xfrm>
              <a:off x="8869680" y="1755648"/>
              <a:ext cx="914400" cy="384048"/>
            </a:xfrm>
            <a:prstGeom prst="rect">
              <a:avLst/>
            </a:prstGeom>
            <a:solidFill>
              <a:srgbClr val="F8FAFC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4"/>
            <p:cNvSpPr/>
            <p:nvPr/>
          </p:nvSpPr>
          <p:spPr>
            <a:xfrm>
              <a:off x="8915400" y="1755648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Times New Roman"/>
                </a:rPr>
                <a:t>19.39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28" name="Shape 25"/>
            <p:cNvSpPr/>
            <p:nvPr/>
          </p:nvSpPr>
          <p:spPr>
            <a:xfrm>
              <a:off x="9784080" y="1755648"/>
              <a:ext cx="1097280" cy="384048"/>
            </a:xfrm>
            <a:prstGeom prst="rect">
              <a:avLst/>
            </a:prstGeom>
            <a:solidFill>
              <a:srgbClr val="F8FAFC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26"/>
            <p:cNvSpPr/>
            <p:nvPr/>
          </p:nvSpPr>
          <p:spPr>
            <a:xfrm>
              <a:off x="9829800" y="1755648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Times New Roman"/>
                </a:rPr>
                <a:t>2nd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30" name="Shape 27"/>
            <p:cNvSpPr/>
            <p:nvPr/>
          </p:nvSpPr>
          <p:spPr>
            <a:xfrm>
              <a:off x="5486400" y="2139696"/>
              <a:ext cx="914400" cy="384048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8"/>
            <p:cNvSpPr/>
            <p:nvPr/>
          </p:nvSpPr>
          <p:spPr>
            <a:xfrm>
              <a:off x="5532120" y="2139696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1E293B"/>
                  </a:solidFill>
                  <a:latin typeface="Times New Roman"/>
                </a:rPr>
                <a:t>OLS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32" name="Shape 29"/>
            <p:cNvSpPr/>
            <p:nvPr/>
          </p:nvSpPr>
          <p:spPr>
            <a:xfrm>
              <a:off x="6400800" y="2139696"/>
              <a:ext cx="2468880" cy="384048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30"/>
            <p:cNvSpPr/>
            <p:nvPr/>
          </p:nvSpPr>
          <p:spPr>
            <a:xfrm>
              <a:off x="6446520" y="2139696"/>
              <a:ext cx="24231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Times New Roman"/>
                </a:rPr>
                <a:t>Linear (ordinary least squares)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34" name="Shape 31"/>
            <p:cNvSpPr/>
            <p:nvPr/>
          </p:nvSpPr>
          <p:spPr>
            <a:xfrm>
              <a:off x="8869680" y="2139696"/>
              <a:ext cx="914400" cy="384048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32"/>
            <p:cNvSpPr/>
            <p:nvPr/>
          </p:nvSpPr>
          <p:spPr>
            <a:xfrm>
              <a:off x="8915400" y="2139696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Times New Roman"/>
                </a:rPr>
                <a:t>19.45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36" name="Shape 33"/>
            <p:cNvSpPr/>
            <p:nvPr/>
          </p:nvSpPr>
          <p:spPr>
            <a:xfrm>
              <a:off x="9784080" y="2139696"/>
              <a:ext cx="1097280" cy="384048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34"/>
            <p:cNvSpPr/>
            <p:nvPr/>
          </p:nvSpPr>
          <p:spPr>
            <a:xfrm>
              <a:off x="9829800" y="2139696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Times New Roman"/>
                </a:rPr>
                <a:t>3rd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38" name="Shape 35"/>
            <p:cNvSpPr/>
            <p:nvPr/>
          </p:nvSpPr>
          <p:spPr>
            <a:xfrm>
              <a:off x="5486400" y="2523744"/>
              <a:ext cx="914400" cy="384048"/>
            </a:xfrm>
            <a:prstGeom prst="rect">
              <a:avLst/>
            </a:prstGeom>
            <a:solidFill>
              <a:srgbClr val="F8FAFC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36"/>
            <p:cNvSpPr/>
            <p:nvPr/>
          </p:nvSpPr>
          <p:spPr>
            <a:xfrm>
              <a:off x="5532120" y="2523744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1E293B"/>
                  </a:solidFill>
                  <a:latin typeface="Times New Roman"/>
                </a:rPr>
                <a:t>NeuralNet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40" name="Shape 37"/>
            <p:cNvSpPr/>
            <p:nvPr/>
          </p:nvSpPr>
          <p:spPr>
            <a:xfrm>
              <a:off x="6400800" y="2523744"/>
              <a:ext cx="2468880" cy="384048"/>
            </a:xfrm>
            <a:prstGeom prst="rect">
              <a:avLst/>
            </a:prstGeom>
            <a:solidFill>
              <a:srgbClr val="F8FAFC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38"/>
            <p:cNvSpPr/>
            <p:nvPr/>
          </p:nvSpPr>
          <p:spPr>
            <a:xfrm>
              <a:off x="6446520" y="2523744"/>
              <a:ext cx="24231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Times New Roman"/>
                </a:rPr>
                <a:t>Multilayer perceptron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42" name="Shape 39"/>
            <p:cNvSpPr/>
            <p:nvPr/>
          </p:nvSpPr>
          <p:spPr>
            <a:xfrm>
              <a:off x="8869680" y="2523744"/>
              <a:ext cx="914400" cy="384048"/>
            </a:xfrm>
            <a:prstGeom prst="rect">
              <a:avLst/>
            </a:prstGeom>
            <a:solidFill>
              <a:srgbClr val="F8FAFC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 40"/>
            <p:cNvSpPr/>
            <p:nvPr/>
          </p:nvSpPr>
          <p:spPr>
            <a:xfrm>
              <a:off x="8915400" y="2523744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Times New Roman"/>
                </a:rPr>
                <a:t>19.82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44" name="Shape 41"/>
            <p:cNvSpPr/>
            <p:nvPr/>
          </p:nvSpPr>
          <p:spPr>
            <a:xfrm>
              <a:off x="9784080" y="2523744"/>
              <a:ext cx="1097280" cy="384048"/>
            </a:xfrm>
            <a:prstGeom prst="rect">
              <a:avLst/>
            </a:prstGeom>
            <a:solidFill>
              <a:srgbClr val="F8FAFC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 42"/>
            <p:cNvSpPr/>
            <p:nvPr/>
          </p:nvSpPr>
          <p:spPr>
            <a:xfrm>
              <a:off x="9829800" y="2523744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293B"/>
                  </a:solidFill>
                  <a:latin typeface="Times New Roman"/>
                </a:rPr>
                <a:t>4th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46" name="Shape 43"/>
            <p:cNvSpPr/>
            <p:nvPr/>
          </p:nvSpPr>
          <p:spPr>
            <a:xfrm>
              <a:off x="5486400" y="2907792"/>
              <a:ext cx="914400" cy="384048"/>
            </a:xfrm>
            <a:prstGeom prst="rect">
              <a:avLst/>
            </a:prstGeom>
            <a:solidFill>
              <a:srgbClr val="FFF1F2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44"/>
            <p:cNvSpPr/>
            <p:nvPr/>
          </p:nvSpPr>
          <p:spPr>
            <a:xfrm>
              <a:off x="5532120" y="2907792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64748B"/>
                  </a:solidFill>
                  <a:latin typeface="Times New Roman"/>
                </a:rPr>
                <a:t>Tree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48" name="Shape 45"/>
            <p:cNvSpPr/>
            <p:nvPr/>
          </p:nvSpPr>
          <p:spPr>
            <a:xfrm>
              <a:off x="6400800" y="2907792"/>
              <a:ext cx="2468880" cy="384048"/>
            </a:xfrm>
            <a:prstGeom prst="rect">
              <a:avLst/>
            </a:prstGeom>
            <a:solidFill>
              <a:srgbClr val="FFF1F2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46"/>
            <p:cNvSpPr/>
            <p:nvPr/>
          </p:nvSpPr>
          <p:spPr>
            <a:xfrm>
              <a:off x="6446520" y="2907792"/>
              <a:ext cx="24231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64748B"/>
                  </a:solidFill>
                  <a:latin typeface="Times New Roman"/>
                </a:rPr>
                <a:t>Single decision tree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50" name="Shape 47"/>
            <p:cNvSpPr/>
            <p:nvPr/>
          </p:nvSpPr>
          <p:spPr>
            <a:xfrm>
              <a:off x="8869680" y="2907792"/>
              <a:ext cx="914400" cy="384048"/>
            </a:xfrm>
            <a:prstGeom prst="rect">
              <a:avLst/>
            </a:prstGeom>
            <a:solidFill>
              <a:srgbClr val="FFF1F2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 48"/>
            <p:cNvSpPr/>
            <p:nvPr/>
          </p:nvSpPr>
          <p:spPr>
            <a:xfrm>
              <a:off x="8915400" y="2907792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64748B"/>
                  </a:solidFill>
                  <a:latin typeface="Times New Roman"/>
                </a:rPr>
                <a:t>37.14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52" name="Shape 49"/>
            <p:cNvSpPr/>
            <p:nvPr/>
          </p:nvSpPr>
          <p:spPr>
            <a:xfrm>
              <a:off x="9784080" y="2907792"/>
              <a:ext cx="1097280" cy="384048"/>
            </a:xfrm>
            <a:prstGeom prst="rect">
              <a:avLst/>
            </a:prstGeom>
            <a:solidFill>
              <a:srgbClr val="FFF1F2"/>
            </a:solidFill>
            <a:ln w="508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 50"/>
            <p:cNvSpPr/>
            <p:nvPr/>
          </p:nvSpPr>
          <p:spPr>
            <a:xfrm>
              <a:off x="9829800" y="2907792"/>
              <a:ext cx="1051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64748B"/>
                  </a:solidFill>
                  <a:latin typeface="Times New Roman"/>
                </a:rPr>
                <a:t>❌ Worst</a:t>
              </a:r>
              <a:endParaRPr lang="en-US" sz="1100" dirty="0">
                <a:latin typeface="Times New Roman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BBE75FF-8F91-AACD-1719-CBF53BA99C98}"/>
              </a:ext>
            </a:extLst>
          </p:cNvPr>
          <p:cNvGrpSpPr/>
          <p:nvPr/>
        </p:nvGrpSpPr>
        <p:grpSpPr>
          <a:xfrm>
            <a:off x="4839492" y="3029946"/>
            <a:ext cx="3899774" cy="2113554"/>
            <a:chOff x="5440680" y="2995500"/>
            <a:chExt cx="3703320" cy="2666256"/>
          </a:xfrm>
        </p:grpSpPr>
        <p:sp>
          <p:nvSpPr>
            <p:cNvPr id="54" name="Shape 51"/>
            <p:cNvSpPr/>
            <p:nvPr/>
          </p:nvSpPr>
          <p:spPr>
            <a:xfrm>
              <a:off x="5440680" y="2999232"/>
              <a:ext cx="3703320" cy="266252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52"/>
            <p:cNvSpPr/>
            <p:nvPr/>
          </p:nvSpPr>
          <p:spPr>
            <a:xfrm>
              <a:off x="5596128" y="2995500"/>
              <a:ext cx="3383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2C5B"/>
                  </a:solidFill>
                  <a:latin typeface="Times New Roman"/>
                </a:rPr>
                <a:t>Interpretation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56" name="Shape 53"/>
            <p:cNvSpPr/>
            <p:nvPr/>
          </p:nvSpPr>
          <p:spPr>
            <a:xfrm>
              <a:off x="5596128" y="3342973"/>
              <a:ext cx="164592" cy="164592"/>
            </a:xfrm>
            <a:prstGeom prst="ellipse">
              <a:avLst/>
            </a:prstGeom>
            <a:solidFill>
              <a:srgbClr val="16A34A"/>
            </a:solidFill>
            <a:ln w="127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 54"/>
            <p:cNvSpPr/>
            <p:nvPr/>
          </p:nvSpPr>
          <p:spPr>
            <a:xfrm>
              <a:off x="5870448" y="3272843"/>
              <a:ext cx="312724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000" dirty="0">
                  <a:solidFill>
                    <a:srgbClr val="334155"/>
                  </a:solidFill>
                  <a:latin typeface="Times New Roman"/>
                </a:rPr>
                <a:t>GBM wins — ensemble captures mild non-linearities while controlling overfitting through shallow trees.</a:t>
              </a:r>
              <a:endParaRPr lang="en-US" sz="1000" dirty="0">
                <a:latin typeface="Times New Roman"/>
              </a:endParaRPr>
            </a:p>
          </p:txBody>
        </p:sp>
        <p:sp>
          <p:nvSpPr>
            <p:cNvPr id="58" name="Shape 55"/>
            <p:cNvSpPr/>
            <p:nvPr/>
          </p:nvSpPr>
          <p:spPr>
            <a:xfrm>
              <a:off x="5596128" y="3871814"/>
              <a:ext cx="164592" cy="164592"/>
            </a:xfrm>
            <a:prstGeom prst="ellipse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 56"/>
            <p:cNvSpPr/>
            <p:nvPr/>
          </p:nvSpPr>
          <p:spPr>
            <a:xfrm>
              <a:off x="5870448" y="3853526"/>
              <a:ext cx="312724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000" dirty="0">
                  <a:solidFill>
                    <a:srgbClr val="334155"/>
                  </a:solidFill>
                  <a:latin typeface="Times New Roman"/>
                </a:rPr>
                <a:t>Decision Tree loses badly — single deep tree memorises training noise. Test MSE ≈ 2× everyone else: textbook overfitting.</a:t>
              </a:r>
              <a:endParaRPr lang="en-US" sz="1000" dirty="0">
                <a:latin typeface="Times New Roman"/>
              </a:endParaRPr>
            </a:p>
          </p:txBody>
        </p:sp>
        <p:sp>
          <p:nvSpPr>
            <p:cNvPr id="60" name="Shape 57"/>
            <p:cNvSpPr/>
            <p:nvPr/>
          </p:nvSpPr>
          <p:spPr>
            <a:xfrm>
              <a:off x="5596128" y="4439537"/>
              <a:ext cx="164592" cy="164592"/>
            </a:xfrm>
            <a:prstGeom prst="ellipse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 58"/>
            <p:cNvSpPr/>
            <p:nvPr/>
          </p:nvSpPr>
          <p:spPr>
            <a:xfrm>
              <a:off x="5870448" y="4421249"/>
              <a:ext cx="312724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000" dirty="0">
                  <a:solidFill>
                    <a:srgbClr val="334155"/>
                  </a:solidFill>
                  <a:latin typeface="Times New Roman"/>
                </a:rPr>
                <a:t>Ridge slightly beats OLS — even mild regularisation helps in a high-noise environment.</a:t>
              </a:r>
              <a:endParaRPr lang="en-US" sz="1000" dirty="0">
                <a:latin typeface="Times New Roman"/>
              </a:endParaRPr>
            </a:p>
          </p:txBody>
        </p:sp>
        <p:sp>
          <p:nvSpPr>
            <p:cNvPr id="62" name="Shape 59"/>
            <p:cNvSpPr/>
            <p:nvPr/>
          </p:nvSpPr>
          <p:spPr>
            <a:xfrm>
              <a:off x="5596128" y="4994299"/>
              <a:ext cx="164592" cy="164592"/>
            </a:xfrm>
            <a:prstGeom prst="ellipse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60"/>
            <p:cNvSpPr/>
            <p:nvPr/>
          </p:nvSpPr>
          <p:spPr>
            <a:xfrm>
              <a:off x="5870448" y="4976011"/>
              <a:ext cx="312724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000" dirty="0">
                  <a:solidFill>
                    <a:srgbClr val="334155"/>
                  </a:solidFill>
                  <a:latin typeface="Times New Roman"/>
                </a:rPr>
                <a:t>All models are bad in absolute terms — toy example with only ~600 observations and 5 features.</a:t>
              </a:r>
              <a:endParaRPr lang="en-US" sz="1000" dirty="0">
                <a:latin typeface="Times New Roman"/>
              </a:endParaRPr>
            </a:p>
          </p:txBody>
        </p:sp>
      </p:grpSp>
      <p:sp>
        <p:nvSpPr>
          <p:cNvPr id="4" name="Text 2"/>
          <p:cNvSpPr/>
          <p:nvPr/>
        </p:nvSpPr>
        <p:spPr>
          <a:xfrm>
            <a:off x="1075170" y="1004836"/>
            <a:ext cx="3136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Times New Roman"/>
              </a:rPr>
              <a:t>Lower MSE = better prediction. Test data: year ≥ 2000</a:t>
            </a:r>
          </a:p>
        </p:txBody>
      </p:sp>
    </p:spTree>
    <p:extLst>
      <p:ext uri="{BB962C8B-B14F-4D97-AF65-F5344CB8AC3E}">
        <p14:creationId xmlns:p14="http://schemas.microsoft.com/office/powerpoint/2010/main" val="3537736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What We Did Not Do Properly — Toy Example Limitations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7"/>
                </a:solidFill>
                <a:latin typeface="Times New Roman"/>
              </a:rPr>
              <a:t>A real ML study requires all four of these</a:t>
            </a:r>
            <a:endParaRPr lang="en-US" sz="1100" dirty="0">
              <a:latin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0352" y="118872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/>
              </a:rPr>
              <a:t>①</a:t>
            </a:r>
            <a:endParaRPr lang="en-US" sz="1400" dirty="0">
              <a:latin typeface="Poppin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5568" y="12070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C5B"/>
                </a:solidFill>
                <a:latin typeface="Times New Roman"/>
              </a:rPr>
              <a:t>Tune Hyperparameters</a:t>
            </a:r>
            <a:endParaRPr lang="en-US" sz="1250" dirty="0">
              <a:latin typeface="Times New Roman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0352" y="17373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The alpha in Ridge and n_estimators in GBM were set arbitrarily. A real study selects them via cross-validation on a separate validation set — never the test set.</a:t>
            </a:r>
            <a:endParaRPr lang="en-US" sz="1100" dirty="0">
              <a:latin typeface="Times New Roma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30352" y="2468880"/>
            <a:ext cx="379476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4688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ea typeface="Consolas" pitchFamily="34" charset="-122"/>
                <a:cs typeface="Consolas" pitchFamily="34" charset="-120"/>
              </a:rPr>
              <a:t>GridSearchCV(Ridge(), {'alpha': [0.1,1,10]}, cv=5)</a:t>
            </a:r>
            <a:endParaRPr lang="en-US" sz="1100" dirty="0">
              <a:latin typeface="Times New Roma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00600" y="1024128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65192" y="118872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6519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/>
              </a:rPr>
              <a:t>②</a:t>
            </a:r>
            <a:endParaRPr lang="en-US" sz="1400" dirty="0">
              <a:latin typeface="Poppin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550408" y="12070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C5B"/>
                </a:solidFill>
                <a:latin typeface="Times New Roman"/>
              </a:rPr>
              <a:t>Standardise Inputs</a:t>
            </a:r>
            <a:endParaRPr lang="en-US" sz="1250" dirty="0">
              <a:latin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65192" y="17373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Neural networks require standardised inputs (mean=0, std=1). We skipped this. In GKX (2020), all 94 characteristics are rank-transformed to the cross-sectional uniform distribution.</a:t>
            </a:r>
            <a:endParaRPr lang="en-US" sz="1100" dirty="0">
              <a:latin typeface="Times New Roma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965192" y="2468880"/>
            <a:ext cx="379476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56632" y="24688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1100" dirty="0">
              <a:latin typeface="Times New Roman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30352" y="3218688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DFFAA0C-C133-7B4A-71AB-5D5D326D88F6}"/>
              </a:ext>
            </a:extLst>
          </p:cNvPr>
          <p:cNvGrpSpPr/>
          <p:nvPr/>
        </p:nvGrpSpPr>
        <p:grpSpPr>
          <a:xfrm>
            <a:off x="365760" y="3054096"/>
            <a:ext cx="4160520" cy="1874520"/>
            <a:chOff x="365760" y="3054096"/>
            <a:chExt cx="4160520" cy="1874520"/>
          </a:xfrm>
        </p:grpSpPr>
        <p:sp>
          <p:nvSpPr>
            <p:cNvPr id="19" name="Shape 17"/>
            <p:cNvSpPr/>
            <p:nvPr/>
          </p:nvSpPr>
          <p:spPr>
            <a:xfrm>
              <a:off x="365760" y="3054096"/>
              <a:ext cx="4160520" cy="18745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1115568" y="3236976"/>
              <a:ext cx="32461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1A2C5B"/>
                  </a:solidFill>
                  <a:latin typeface="Times New Roman"/>
                </a:rPr>
                <a:t>More Features</a:t>
              </a:r>
              <a:endParaRPr lang="en-US" sz="1250" dirty="0">
                <a:latin typeface="Times New Roman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530352" y="3767328"/>
              <a:ext cx="379476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334155"/>
                  </a:solidFill>
                  <a:latin typeface="Times New Roman"/>
                </a:rPr>
                <a:t>We used 5 macro factors. GKX (2020) use 94 firm-level stock characteristics. More features = more potential to capture non-linear interactions — but also more overfitting risk.</a:t>
              </a:r>
              <a:endParaRPr lang="en-US" sz="1100" dirty="0">
                <a:latin typeface="Times New Roman"/>
              </a:endParaRPr>
            </a:p>
          </p:txBody>
        </p:sp>
      </p:grpSp>
      <p:sp>
        <p:nvSpPr>
          <p:cNvPr id="24" name="Shape 22"/>
          <p:cNvSpPr/>
          <p:nvPr/>
        </p:nvSpPr>
        <p:spPr>
          <a:xfrm>
            <a:off x="530352" y="4498848"/>
            <a:ext cx="379476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" y="44988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ea typeface="Consolas" pitchFamily="34" charset="-122"/>
                <a:cs typeface="Consolas" pitchFamily="34" charset="-120"/>
              </a:rPr>
              <a:t># GKX uses 94 characteristics per stock</a:t>
            </a:r>
            <a:endParaRPr lang="en-US" sz="1100" dirty="0">
              <a:latin typeface="Times New Roman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00600" y="3054096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965192" y="3218688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65192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/>
              </a:rPr>
              <a:t>④</a:t>
            </a:r>
            <a:endParaRPr lang="en-US" sz="1400" dirty="0">
              <a:latin typeface="Poppin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550408" y="323697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C5B"/>
                </a:solidFill>
                <a:latin typeface="Times New Roman"/>
              </a:rPr>
              <a:t>More Observations</a:t>
            </a:r>
            <a:endParaRPr lang="en-US" sz="1250" dirty="0">
              <a:latin typeface="Times New Roman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965192" y="376732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We have ~600 monthly data points. GKX use ~1 million stock-month observations. ML works best with large samples — ~600 points is barely enough for OLS, let alone deep networks.</a:t>
            </a:r>
            <a:endParaRPr lang="en-US" sz="1100" dirty="0">
              <a:latin typeface="Times New Roman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965192" y="4498848"/>
            <a:ext cx="379476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56632" y="44988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ea typeface="Consolas" pitchFamily="34" charset="-122"/>
                <a:cs typeface="Consolas" pitchFamily="34" charset="-120"/>
              </a:rPr>
              <a:t># GKX: ~1 million stock-month observations</a:t>
            </a:r>
            <a:endParaRPr lang="en-US" sz="1100" dirty="0">
              <a:latin typeface="Times New Roman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20040" y="488289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imes New Roman"/>
              </a:rPr>
              <a:t>The Colab notebook includes hyperparameter tuning, standardisation, and a larger prediction task on individual stock returns.</a:t>
            </a:r>
            <a:endParaRPr lang="en-US" sz="1100" dirty="0">
              <a:latin typeface="Times New Roman"/>
            </a:endParaRPr>
          </a:p>
        </p:txBody>
      </p:sp>
      <p:sp>
        <p:nvSpPr>
          <p:cNvPr id="37" name="Shape 25">
            <a:extLst>
              <a:ext uri="{FF2B5EF4-FFF2-40B4-BE49-F238E27FC236}">
                <a16:creationId xmlns:a16="http://schemas.microsoft.com/office/drawing/2014/main" id="{2949965A-F2EF-4E9B-DCD9-B949D0D6D1F2}"/>
              </a:ext>
            </a:extLst>
          </p:cNvPr>
          <p:cNvSpPr/>
          <p:nvPr/>
        </p:nvSpPr>
        <p:spPr>
          <a:xfrm>
            <a:off x="530352" y="3168396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r>
              <a:rPr lang="en-US" sz="1400" b="1" dirty="0">
                <a:solidFill>
                  <a:srgbClr val="FFFFFF"/>
                </a:solidFill>
                <a:latin typeface="Poppins"/>
              </a:rPr>
              <a:t>③</a:t>
            </a:r>
            <a:endParaRPr lang="en-US" dirty="0">
              <a:latin typeface="Poppi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710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/>
              </a:rPr>
              <a:t>Gu, Kelly &amp; Xiu (2020) — "Empirical Asset Pricing via Machine Learning"</a:t>
            </a:r>
            <a:endParaRPr lang="en-US" sz="20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7"/>
                </a:solidFill>
                <a:latin typeface="Times New Roman"/>
              </a:rPr>
              <a:t>Review of Financial Studies, 33(5) — the landmark paper that brought ML into mainstream finance</a:t>
            </a:r>
            <a:endParaRPr lang="en-US" sz="1100" dirty="0">
              <a:latin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117043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45720" cy="1170432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987552"/>
            <a:ext cx="8046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334155"/>
                </a:solidFill>
                <a:latin typeface="Times New Roman"/>
              </a:rPr>
              <a:t>"We perform a comparative analysis of machine learning methods for the canonical problem of empirical asset pricing: measuring asset risk premiums. We demonstrate large economic gains to investors using machine learning forecasts, in some cases doubling the performance of leading regression-based strategies. We identify the best-performing methods (trees and neural networks) and trace their predictive gains to allowing non-linear predictor interactions missed by other methods. All methods agree on the same set of dominant predictive signals: momentum, liquidity, and volatility."</a:t>
            </a:r>
            <a:endParaRPr lang="en-US" sz="1100" dirty="0">
              <a:latin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06640" y="217627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/>
              </a:rPr>
              <a:t>— Gu, Kelly &amp; Xiu (2020, RFS)</a:t>
            </a:r>
            <a:endParaRPr lang="en-US" sz="1100" dirty="0">
              <a:latin typeface="Times New Roman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Times New Roman"/>
              </a:rPr>
              <a:t>Why This Paper Matters</a:t>
            </a:r>
            <a:endParaRPr lang="en-US" sz="1300" dirty="0">
              <a:latin typeface="Times New Roma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2761488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54864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2852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Times New Roman"/>
              </a:rPr>
              <a:t>Right framing</a:t>
            </a:r>
            <a:endParaRPr lang="en-US" sz="1300" dirty="0">
              <a:latin typeface="Times New Roman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0352" y="316382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"Measuring asset risk premiums" — not just "predicting returns". Subtle but critical for publication in top journals.</a:t>
            </a:r>
            <a:endParaRPr lang="en-US" sz="1100" dirty="0">
              <a:latin typeface="Times New Roman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00600" y="2761488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00600" y="2761488"/>
            <a:ext cx="54864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65192" y="2852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Times New Roman"/>
              </a:rPr>
              <a:t>Proper methodology</a:t>
            </a:r>
            <a:endParaRPr lang="en-US" sz="1300" dirty="0">
              <a:latin typeface="Times New Roman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65192" y="316382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Rigorous train/validation/test splits. Hyperparameter tuning on held-out validation set. Standardised inputs via rank transform.</a:t>
            </a:r>
            <a:endParaRPr lang="en-US" sz="1100" dirty="0">
              <a:latin typeface="Times New Roman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5760" y="393192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54864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Times New Roman"/>
              </a:rPr>
              <a:t>Economic interpretation</a:t>
            </a:r>
            <a:endParaRPr lang="en-US" sz="1300" dirty="0">
              <a:latin typeface="Times New Roman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30352" y="433425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Variable importance scores identify which of the 94 characteristics matter most — bridging black-box ML with economic intuition.</a:t>
            </a:r>
            <a:endParaRPr lang="en-US" sz="1100" dirty="0">
              <a:latin typeface="Times New Roman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00600" y="393192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0600" y="3931920"/>
            <a:ext cx="54864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65192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Times New Roman"/>
              </a:rPr>
              <a:t>Genuine horse race</a:t>
            </a:r>
            <a:endParaRPr lang="en-US" sz="1300" dirty="0">
              <a:latin typeface="Times New Roman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65192" y="433425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Times New Roman"/>
              </a:rPr>
              <a:t>Compared OLS, Ridge, LASSO, Elastic Net, PCR, PLS, GBRT, Random Forests, and Neural Networks on the same task and data.</a:t>
            </a:r>
            <a:endParaRPr lang="en-US" sz="11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8652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GKX (2020) — Four Key Findings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7"/>
                </a:solidFill>
                <a:latin typeface="Times New Roman"/>
              </a:rPr>
              <a:t>~1 million stock-month observations · 94 firm characteristics · 1957–2016</a:t>
            </a:r>
            <a:endParaRPr lang="en-US" sz="1100" dirty="0">
              <a:latin typeface="Times New Roman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0383CB0-9D60-33C2-DCBA-7D95573706D3}"/>
              </a:ext>
            </a:extLst>
          </p:cNvPr>
          <p:cNvGrpSpPr/>
          <p:nvPr/>
        </p:nvGrpSpPr>
        <p:grpSpPr>
          <a:xfrm>
            <a:off x="365760" y="1024128"/>
            <a:ext cx="8412480" cy="3506724"/>
            <a:chOff x="365760" y="1024128"/>
            <a:chExt cx="8595360" cy="3959352"/>
          </a:xfrm>
        </p:grpSpPr>
        <p:sp>
          <p:nvSpPr>
            <p:cNvPr id="5" name="Shape 3"/>
            <p:cNvSpPr/>
            <p:nvPr/>
          </p:nvSpPr>
          <p:spPr>
            <a:xfrm>
              <a:off x="365760" y="1024128"/>
              <a:ext cx="4160520" cy="19019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365760" y="1024128"/>
              <a:ext cx="4160520" cy="73152"/>
            </a:xfrm>
            <a:prstGeom prst="rect">
              <a:avLst/>
            </a:prstGeom>
            <a:solidFill>
              <a:srgbClr val="16A34A"/>
            </a:solidFill>
            <a:ln w="127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530352" y="1207008"/>
              <a:ext cx="457200" cy="457200"/>
            </a:xfrm>
            <a:prstGeom prst="ellipse">
              <a:avLst/>
            </a:prstGeom>
            <a:solidFill>
              <a:srgbClr val="16A34A"/>
            </a:solidFill>
            <a:ln w="127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530352" y="120700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000000"/>
                  </a:solidFill>
                  <a:latin typeface="Poppins"/>
                </a:rPr>
                <a:t>✅</a:t>
              </a:r>
              <a:endParaRPr lang="en-US" sz="1400" dirty="0">
                <a:latin typeface="Poppins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115568" y="1225296"/>
              <a:ext cx="32461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2C5B"/>
                  </a:solidFill>
                  <a:latin typeface="Poppins"/>
                </a:rPr>
                <a:t>ML Beats OLS</a:t>
              </a:r>
              <a:endParaRPr lang="en-US" sz="1300" dirty="0">
                <a:latin typeface="Poppins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530352" y="1773936"/>
              <a:ext cx="37947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5000"/>
                </a:lnSpc>
                <a:buNone/>
              </a:pPr>
              <a:r>
                <a:rPr lang="en-US" sz="1300" dirty="0">
                  <a:solidFill>
                    <a:srgbClr val="334155"/>
                  </a:solidFill>
                  <a:latin typeface="Times New Roman"/>
                </a:rPr>
                <a:t>ML methods outperform traditional regression-based strategies for return prediction out-of-sample. Economic gains are large — in some cases doubling Sharpe ratios of leading regression strategies.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4800600" y="1024128"/>
              <a:ext cx="4160520" cy="19019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4800600" y="1024128"/>
              <a:ext cx="4160520" cy="73152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4965192" y="1207008"/>
              <a:ext cx="457200" cy="457200"/>
            </a:xfrm>
            <a:prstGeom prst="ellipse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4965192" y="120700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000000"/>
                  </a:solidFill>
                  <a:latin typeface="Poppins"/>
                </a:rPr>
                <a:t>✅</a:t>
              </a:r>
              <a:endParaRPr lang="en-US" sz="1400" dirty="0">
                <a:latin typeface="Poppins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5550408" y="1225296"/>
              <a:ext cx="32461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2C5B"/>
                  </a:solidFill>
                  <a:latin typeface="Poppins"/>
                </a:rPr>
                <a:t>Non-Linearity Matters</a:t>
              </a:r>
              <a:endParaRPr lang="en-US" sz="1300" dirty="0">
                <a:latin typeface="Poppins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4965192" y="1773936"/>
              <a:ext cx="37947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5000"/>
                </a:lnSpc>
                <a:buNone/>
              </a:pPr>
              <a:r>
                <a:rPr lang="en-US" sz="1300" dirty="0">
                  <a:solidFill>
                    <a:srgbClr val="334155"/>
                  </a:solidFill>
                  <a:latin typeface="Times New Roman"/>
                </a:rPr>
                <a:t>The predictive advantage of ML over OLS traces specifically to capturing non-linear predictor interactions. OLS by construction cannot learn interactions unless they are manually specified.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365760" y="3081528"/>
              <a:ext cx="4160520" cy="19019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365760" y="3081528"/>
              <a:ext cx="4160520" cy="73152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530352" y="3264408"/>
              <a:ext cx="457200" cy="457200"/>
            </a:xfrm>
            <a:prstGeom prst="ellipse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530352" y="326440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000000"/>
                  </a:solidFill>
                  <a:latin typeface="Poppins"/>
                </a:rPr>
                <a:t>✅</a:t>
              </a:r>
              <a:endParaRPr lang="en-US" sz="1400" dirty="0">
                <a:latin typeface="Poppins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1115568" y="3282696"/>
              <a:ext cx="32461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2C5B"/>
                  </a:solidFill>
                  <a:latin typeface="Poppins"/>
                </a:rPr>
                <a:t>Best Methods: Trees &amp; NNs</a:t>
              </a:r>
              <a:endParaRPr lang="en-US" sz="1300" dirty="0">
                <a:latin typeface="Poppins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530352" y="3831336"/>
              <a:ext cx="37947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5000"/>
                </a:lnSpc>
                <a:buNone/>
              </a:pPr>
              <a:r>
                <a:rPr lang="en-US" sz="1300" dirty="0">
                  <a:solidFill>
                    <a:srgbClr val="334155"/>
                  </a:solidFill>
                  <a:latin typeface="Times New Roman"/>
                </a:rPr>
                <a:t>Gradient boosted regression trees (GBRT) and neural networks consistently outperform linear methods. Ridge/LASSO are better than plain OLS but fall short of the best ML approaches.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4800600" y="3081528"/>
              <a:ext cx="4160520" cy="19019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22"/>
            <p:cNvSpPr/>
            <p:nvPr/>
          </p:nvSpPr>
          <p:spPr>
            <a:xfrm>
              <a:off x="4800600" y="3081528"/>
              <a:ext cx="4160520" cy="73152"/>
            </a:xfrm>
            <a:prstGeom prst="rect">
              <a:avLst/>
            </a:prstGeom>
            <a:solidFill>
              <a:srgbClr val="C9A84C"/>
            </a:solidFill>
            <a:ln w="12700">
              <a:solidFill>
                <a:srgbClr val="C9A84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3"/>
            <p:cNvSpPr/>
            <p:nvPr/>
          </p:nvSpPr>
          <p:spPr>
            <a:xfrm>
              <a:off x="4965192" y="3264408"/>
              <a:ext cx="457200" cy="457200"/>
            </a:xfrm>
            <a:prstGeom prst="ellipse">
              <a:avLst/>
            </a:prstGeom>
            <a:solidFill>
              <a:srgbClr val="C9A84C"/>
            </a:solidFill>
            <a:ln w="12700">
              <a:solidFill>
                <a:srgbClr val="C9A84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4965192" y="326440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000000"/>
                  </a:solidFill>
                  <a:latin typeface="Poppins"/>
                </a:rPr>
                <a:t>✅</a:t>
              </a:r>
              <a:endParaRPr lang="en-US" sz="1400" dirty="0">
                <a:latin typeface="Poppins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5550408" y="3282696"/>
              <a:ext cx="32461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2C5B"/>
                  </a:solidFill>
                  <a:latin typeface="Poppins"/>
                </a:rPr>
                <a:t>Dominant Signals: MOM, LIQ, VOL</a:t>
              </a:r>
              <a:endParaRPr lang="en-US" sz="1300" dirty="0">
                <a:latin typeface="Poppins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4965192" y="3831336"/>
              <a:ext cx="37947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5000"/>
                </a:lnSpc>
                <a:buNone/>
              </a:pPr>
              <a:r>
                <a:rPr lang="en-US" sz="1300" dirty="0">
                  <a:solidFill>
                    <a:srgbClr val="334155"/>
                  </a:solidFill>
                  <a:latin typeface="Times New Roman"/>
                </a:rPr>
                <a:t>All models agree: momentum, liquidity, and volatility are the most important predictors. Consistent with the anomaly literature from Topic 13 — the same signals survive ML scrutiny.</a:t>
              </a:r>
              <a:endParaRPr lang="en-US" sz="1300" dirty="0">
                <a:latin typeface="Times New Roman"/>
              </a:endParaRPr>
            </a:p>
          </p:txBody>
        </p:sp>
      </p:grpSp>
      <p:sp>
        <p:nvSpPr>
          <p:cNvPr id="29" name="Shape 27"/>
          <p:cNvSpPr/>
          <p:nvPr/>
        </p:nvSpPr>
        <p:spPr>
          <a:xfrm>
            <a:off x="365760" y="4628035"/>
            <a:ext cx="8552688" cy="437329"/>
          </a:xfrm>
          <a:prstGeom prst="rect">
            <a:avLst/>
          </a:prstGeom>
          <a:solidFill>
            <a:srgbClr val="EFF6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4628035"/>
            <a:ext cx="46482" cy="43732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4628035"/>
            <a:ext cx="8366760" cy="437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3A8A"/>
                </a:solidFill>
                <a:latin typeface="Times New Roman"/>
              </a:rPr>
              <a:t>🧠  Key insight from GKX: ML advantage is about functional form flexibility (non-linearity), not sample size. OLS with 1 million observations still cannot learn interactions it was never given.</a:t>
            </a:r>
            <a:endParaRPr lang="en-US" sz="13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8636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GKX (2020) vs. Our Toy Example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7"/>
                </a:solidFill>
                <a:latin typeface="Times New Roman"/>
              </a:rPr>
              <a:t>Scale and rigour are everything</a:t>
            </a:r>
            <a:endParaRPr lang="en-US" sz="1100" dirty="0">
              <a:latin typeface="Times New Roman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A669413-3D5D-9C87-9EC1-12C7357FD15D}"/>
              </a:ext>
            </a:extLst>
          </p:cNvPr>
          <p:cNvGrpSpPr/>
          <p:nvPr/>
        </p:nvGrpSpPr>
        <p:grpSpPr>
          <a:xfrm>
            <a:off x="411480" y="1026527"/>
            <a:ext cx="8229600" cy="3191706"/>
            <a:chOff x="365760" y="1024128"/>
            <a:chExt cx="8412480" cy="3749040"/>
          </a:xfrm>
        </p:grpSpPr>
        <p:sp>
          <p:nvSpPr>
            <p:cNvPr id="5" name="Shape 3"/>
            <p:cNvSpPr/>
            <p:nvPr/>
          </p:nvSpPr>
          <p:spPr>
            <a:xfrm>
              <a:off x="365760" y="1024128"/>
              <a:ext cx="2377440" cy="384048"/>
            </a:xfrm>
            <a:prstGeom prst="rect">
              <a:avLst/>
            </a:prstGeom>
            <a:solidFill>
              <a:srgbClr val="1A2C5B"/>
            </a:solidFill>
            <a:ln w="5080">
              <a:solidFill>
                <a:srgbClr val="1E3A8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457200" y="1024128"/>
              <a:ext cx="22860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/>
                </a:rPr>
                <a:t>Dimension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2743200" y="1024128"/>
              <a:ext cx="2560320" cy="384048"/>
            </a:xfrm>
            <a:prstGeom prst="rect">
              <a:avLst/>
            </a:prstGeom>
            <a:solidFill>
              <a:srgbClr val="1A2C5B"/>
            </a:solidFill>
            <a:ln w="5080">
              <a:solidFill>
                <a:srgbClr val="1E3A8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2834640" y="1024128"/>
              <a:ext cx="2468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/>
                </a:rPr>
                <a:t>Our Toy Example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5303520" y="1024128"/>
              <a:ext cx="3474720" cy="384048"/>
            </a:xfrm>
            <a:prstGeom prst="rect">
              <a:avLst/>
            </a:prstGeom>
            <a:solidFill>
              <a:srgbClr val="1A2C5B"/>
            </a:solidFill>
            <a:ln w="5080">
              <a:solidFill>
                <a:srgbClr val="1E3A8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5394960" y="1024128"/>
              <a:ext cx="33832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/>
                </a:rPr>
                <a:t>GKX (2020)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365760" y="1408176"/>
              <a:ext cx="2377440" cy="420624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457200" y="1408176"/>
              <a:ext cx="22402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1A2C5B"/>
                  </a:solidFill>
                  <a:latin typeface="Times New Roman"/>
                </a:rPr>
                <a:t>Observations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2743200" y="1408176"/>
              <a:ext cx="2560320" cy="420624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2834640" y="1408176"/>
              <a:ext cx="2423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4748B"/>
                  </a:solidFill>
                  <a:latin typeface="Times New Roman"/>
                </a:rPr>
                <a:t>~600 monthly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5303520" y="1408176"/>
              <a:ext cx="3474720" cy="420624"/>
            </a:xfrm>
            <a:prstGeom prst="rect">
              <a:avLst/>
            </a:prstGeom>
            <a:solidFill>
              <a:srgbClr val="F0FDF4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5394960" y="1408176"/>
              <a:ext cx="33375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6A34A"/>
                  </a:solidFill>
                  <a:latin typeface="Times New Roman"/>
                </a:rPr>
                <a:t>~1 million stock-months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365760" y="1828800"/>
              <a:ext cx="2377440" cy="420624"/>
            </a:xfrm>
            <a:prstGeom prst="rect">
              <a:avLst/>
            </a:prstGeom>
            <a:solidFill>
              <a:srgbClr val="F8FAFC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457200" y="1828800"/>
              <a:ext cx="22402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1A2C5B"/>
                  </a:solidFill>
                  <a:latin typeface="Times New Roman"/>
                </a:rPr>
                <a:t>Features (X)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2743200" y="1828800"/>
              <a:ext cx="2560320" cy="420624"/>
            </a:xfrm>
            <a:prstGeom prst="rect">
              <a:avLst/>
            </a:prstGeom>
            <a:solidFill>
              <a:srgbClr val="F8FAFC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2834640" y="1828800"/>
              <a:ext cx="2423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4748B"/>
                  </a:solidFill>
                  <a:latin typeface="Times New Roman"/>
                </a:rPr>
                <a:t>5 macro factors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5303520" y="1828800"/>
              <a:ext cx="3474720" cy="420624"/>
            </a:xfrm>
            <a:prstGeom prst="rect">
              <a:avLst/>
            </a:prstGeom>
            <a:solidFill>
              <a:srgbClr val="F0FDF4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5394960" y="1828800"/>
              <a:ext cx="33375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6A34A"/>
                  </a:solidFill>
                  <a:latin typeface="Times New Roman"/>
                </a:rPr>
                <a:t>94 firm characteristics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365760" y="2249424"/>
              <a:ext cx="2377440" cy="420624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457200" y="2249424"/>
              <a:ext cx="22402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1A2C5B"/>
                  </a:solidFill>
                  <a:latin typeface="Times New Roman"/>
                </a:rPr>
                <a:t>Target (y)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2743200" y="2249424"/>
              <a:ext cx="2560320" cy="420624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2834640" y="2249424"/>
              <a:ext cx="2423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4748B"/>
                  </a:solidFill>
                  <a:latin typeface="Times New Roman"/>
                </a:rPr>
                <a:t>Market-level return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5303520" y="2249424"/>
              <a:ext cx="3474720" cy="420624"/>
            </a:xfrm>
            <a:prstGeom prst="rect">
              <a:avLst/>
            </a:prstGeom>
            <a:solidFill>
              <a:srgbClr val="F0FDF4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5394960" y="2249424"/>
              <a:ext cx="33375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6A34A"/>
                  </a:solidFill>
                  <a:latin typeface="Times New Roman"/>
                </a:rPr>
                <a:t>Individual stock returns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365760" y="2670048"/>
              <a:ext cx="2377440" cy="420624"/>
            </a:xfrm>
            <a:prstGeom prst="rect">
              <a:avLst/>
            </a:prstGeom>
            <a:solidFill>
              <a:srgbClr val="F8FAFC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8"/>
            <p:cNvSpPr/>
            <p:nvPr/>
          </p:nvSpPr>
          <p:spPr>
            <a:xfrm>
              <a:off x="457200" y="2670048"/>
              <a:ext cx="22402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1A2C5B"/>
                  </a:solidFill>
                  <a:latin typeface="Times New Roman"/>
                </a:rPr>
                <a:t>Sample period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2743200" y="2670048"/>
              <a:ext cx="2560320" cy="420624"/>
            </a:xfrm>
            <a:prstGeom prst="rect">
              <a:avLst/>
            </a:prstGeom>
            <a:solidFill>
              <a:srgbClr val="F8FAFC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2834640" y="2670048"/>
              <a:ext cx="2423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4748B"/>
                  </a:solidFill>
                  <a:latin typeface="Times New Roman"/>
                </a:rPr>
                <a:t>1967–2019 approx.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5303520" y="2670048"/>
              <a:ext cx="3474720" cy="420624"/>
            </a:xfrm>
            <a:prstGeom prst="rect">
              <a:avLst/>
            </a:prstGeom>
            <a:solidFill>
              <a:srgbClr val="F0FDF4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32"/>
            <p:cNvSpPr/>
            <p:nvPr/>
          </p:nvSpPr>
          <p:spPr>
            <a:xfrm>
              <a:off x="5394960" y="2670048"/>
              <a:ext cx="33375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6A34A"/>
                  </a:solidFill>
                  <a:latin typeface="Times New Roman"/>
                </a:rPr>
                <a:t>1957–2016 (59 years)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365760" y="3090672"/>
              <a:ext cx="2377440" cy="420624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34"/>
            <p:cNvSpPr/>
            <p:nvPr/>
          </p:nvSpPr>
          <p:spPr>
            <a:xfrm>
              <a:off x="457200" y="3090672"/>
              <a:ext cx="22402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1A2C5B"/>
                  </a:solidFill>
                  <a:latin typeface="Times New Roman"/>
                </a:rPr>
                <a:t>Hyperparameter tuning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2743200" y="3090672"/>
              <a:ext cx="2560320" cy="420624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 36"/>
            <p:cNvSpPr/>
            <p:nvPr/>
          </p:nvSpPr>
          <p:spPr>
            <a:xfrm>
              <a:off x="2834640" y="3090672"/>
              <a:ext cx="2423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4748B"/>
                  </a:solidFill>
                  <a:latin typeface="Times New Roman"/>
                </a:rPr>
                <a:t>None (arbitrary)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5303520" y="3090672"/>
              <a:ext cx="3474720" cy="420624"/>
            </a:xfrm>
            <a:prstGeom prst="rect">
              <a:avLst/>
            </a:prstGeom>
            <a:solidFill>
              <a:srgbClr val="F0FDF4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5394960" y="3090672"/>
              <a:ext cx="33375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6A34A"/>
                  </a:solidFill>
                  <a:latin typeface="Times New Roman"/>
                </a:rPr>
                <a:t>Full cross-validation on validation set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41" name="Shape 39"/>
            <p:cNvSpPr/>
            <p:nvPr/>
          </p:nvSpPr>
          <p:spPr>
            <a:xfrm>
              <a:off x="365760" y="3511296"/>
              <a:ext cx="2377440" cy="420624"/>
            </a:xfrm>
            <a:prstGeom prst="rect">
              <a:avLst/>
            </a:prstGeom>
            <a:solidFill>
              <a:srgbClr val="F8FAFC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40"/>
            <p:cNvSpPr/>
            <p:nvPr/>
          </p:nvSpPr>
          <p:spPr>
            <a:xfrm>
              <a:off x="457200" y="3511296"/>
              <a:ext cx="22402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1A2C5B"/>
                  </a:solidFill>
                  <a:latin typeface="Times New Roman"/>
                </a:rPr>
                <a:t>Input standardisation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43" name="Shape 41"/>
            <p:cNvSpPr/>
            <p:nvPr/>
          </p:nvSpPr>
          <p:spPr>
            <a:xfrm>
              <a:off x="2743200" y="3511296"/>
              <a:ext cx="2560320" cy="420624"/>
            </a:xfrm>
            <a:prstGeom prst="rect">
              <a:avLst/>
            </a:prstGeom>
            <a:solidFill>
              <a:srgbClr val="F8FAFC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42"/>
            <p:cNvSpPr/>
            <p:nvPr/>
          </p:nvSpPr>
          <p:spPr>
            <a:xfrm>
              <a:off x="2834640" y="3511296"/>
              <a:ext cx="2423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4748B"/>
                  </a:solidFill>
                  <a:latin typeface="Times New Roman"/>
                </a:rPr>
                <a:t>No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45" name="Shape 43"/>
            <p:cNvSpPr/>
            <p:nvPr/>
          </p:nvSpPr>
          <p:spPr>
            <a:xfrm>
              <a:off x="5303520" y="3511296"/>
              <a:ext cx="3474720" cy="420624"/>
            </a:xfrm>
            <a:prstGeom prst="rect">
              <a:avLst/>
            </a:prstGeom>
            <a:solidFill>
              <a:srgbClr val="F0FDF4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44"/>
            <p:cNvSpPr/>
            <p:nvPr/>
          </p:nvSpPr>
          <p:spPr>
            <a:xfrm>
              <a:off x="5394960" y="3511296"/>
              <a:ext cx="33375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6A34A"/>
                  </a:solidFill>
                  <a:latin typeface="Times New Roman"/>
                </a:rPr>
                <a:t>Yes — rank-transform to uniform distribution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47" name="Shape 45"/>
            <p:cNvSpPr/>
            <p:nvPr/>
          </p:nvSpPr>
          <p:spPr>
            <a:xfrm>
              <a:off x="365760" y="3931920"/>
              <a:ext cx="2377440" cy="420624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46"/>
            <p:cNvSpPr/>
            <p:nvPr/>
          </p:nvSpPr>
          <p:spPr>
            <a:xfrm>
              <a:off x="457200" y="3931920"/>
              <a:ext cx="22402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1A2C5B"/>
                  </a:solidFill>
                  <a:latin typeface="Times New Roman"/>
                </a:rPr>
                <a:t>Interpretation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49" name="Shape 47"/>
            <p:cNvSpPr/>
            <p:nvPr/>
          </p:nvSpPr>
          <p:spPr>
            <a:xfrm>
              <a:off x="2743200" y="3931920"/>
              <a:ext cx="2560320" cy="420624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48"/>
            <p:cNvSpPr/>
            <p:nvPr/>
          </p:nvSpPr>
          <p:spPr>
            <a:xfrm>
              <a:off x="2834640" y="3931920"/>
              <a:ext cx="2423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4748B"/>
                  </a:solidFill>
                  <a:latin typeface="Times New Roman"/>
                </a:rPr>
                <a:t>None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51" name="Shape 49"/>
            <p:cNvSpPr/>
            <p:nvPr/>
          </p:nvSpPr>
          <p:spPr>
            <a:xfrm>
              <a:off x="5303520" y="3931920"/>
              <a:ext cx="3474720" cy="420624"/>
            </a:xfrm>
            <a:prstGeom prst="rect">
              <a:avLst/>
            </a:prstGeom>
            <a:solidFill>
              <a:srgbClr val="F0FDF4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50"/>
            <p:cNvSpPr/>
            <p:nvPr/>
          </p:nvSpPr>
          <p:spPr>
            <a:xfrm>
              <a:off x="5394960" y="3931920"/>
              <a:ext cx="33375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6A34A"/>
                  </a:solidFill>
                  <a:latin typeface="Times New Roman"/>
                </a:rPr>
                <a:t>Variable importance, SDF construction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53" name="Shape 51"/>
            <p:cNvSpPr/>
            <p:nvPr/>
          </p:nvSpPr>
          <p:spPr>
            <a:xfrm>
              <a:off x="365760" y="4352544"/>
              <a:ext cx="2377440" cy="420624"/>
            </a:xfrm>
            <a:prstGeom prst="rect">
              <a:avLst/>
            </a:prstGeom>
            <a:solidFill>
              <a:srgbClr val="F8FAFC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52"/>
            <p:cNvSpPr/>
            <p:nvPr/>
          </p:nvSpPr>
          <p:spPr>
            <a:xfrm>
              <a:off x="457200" y="4352544"/>
              <a:ext cx="22402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1A2C5B"/>
                  </a:solidFill>
                  <a:latin typeface="Times New Roman"/>
                </a:rPr>
                <a:t>Number of models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55" name="Shape 53"/>
            <p:cNvSpPr/>
            <p:nvPr/>
          </p:nvSpPr>
          <p:spPr>
            <a:xfrm>
              <a:off x="2743200" y="4352544"/>
              <a:ext cx="2560320" cy="420624"/>
            </a:xfrm>
            <a:prstGeom prst="rect">
              <a:avLst/>
            </a:prstGeom>
            <a:solidFill>
              <a:srgbClr val="F8FAFC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 54"/>
            <p:cNvSpPr/>
            <p:nvPr/>
          </p:nvSpPr>
          <p:spPr>
            <a:xfrm>
              <a:off x="2834640" y="4352544"/>
              <a:ext cx="2423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4748B"/>
                  </a:solidFill>
                  <a:latin typeface="Times New Roman"/>
                </a:rPr>
                <a:t>5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57" name="Shape 55"/>
            <p:cNvSpPr/>
            <p:nvPr/>
          </p:nvSpPr>
          <p:spPr>
            <a:xfrm>
              <a:off x="5303520" y="4352544"/>
              <a:ext cx="3474720" cy="420624"/>
            </a:xfrm>
            <a:prstGeom prst="rect">
              <a:avLst/>
            </a:prstGeom>
            <a:solidFill>
              <a:srgbClr val="F0FDF4"/>
            </a:solidFill>
            <a:ln w="381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 56"/>
            <p:cNvSpPr/>
            <p:nvPr/>
          </p:nvSpPr>
          <p:spPr>
            <a:xfrm>
              <a:off x="5394960" y="4352544"/>
              <a:ext cx="33375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6A34A"/>
                  </a:solidFill>
                  <a:latin typeface="Times New Roman"/>
                </a:rPr>
                <a:t>9+ (OLS, Ridge, LASSO, EN, PCR, PLS, GBRT, RF, NN)</a:t>
              </a:r>
              <a:endParaRPr lang="en-US" sz="1100" dirty="0">
                <a:latin typeface="Times New Roman"/>
              </a:endParaRPr>
            </a:p>
          </p:txBody>
        </p:sp>
      </p:grpSp>
      <p:sp>
        <p:nvSpPr>
          <p:cNvPr id="59" name="Shape 57"/>
          <p:cNvSpPr/>
          <p:nvPr/>
        </p:nvSpPr>
        <p:spPr>
          <a:xfrm>
            <a:off x="365760" y="4320540"/>
            <a:ext cx="8412480" cy="713232"/>
          </a:xfrm>
          <a:prstGeom prst="rect">
            <a:avLst/>
          </a:prstGeom>
          <a:solidFill>
            <a:srgbClr val="F0FDF4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65760" y="4320540"/>
            <a:ext cx="45720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02920" y="43936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Times New Roman"/>
              </a:rPr>
              <a:t>Concept Check Answer</a:t>
            </a:r>
            <a:endParaRPr lang="en-US" sz="1100" dirty="0">
              <a:latin typeface="Times New Roman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48640" y="4576327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66534"/>
                </a:solidFill>
                <a:latin typeface="Times New Roman"/>
              </a:rPr>
              <a:t>🧠  GKX find ML outperforms OLS primarily because: ML methods capture non-linear predictor interactions that linear OLS models miss by construction. With 94 variables, there are thousands of potential pairwise interactions — OLS would need them all manually specified.</a:t>
            </a:r>
            <a:endParaRPr lang="en-US" sz="11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66879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Critically Evaluating AI-Generated Answers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7"/>
                </a:solidFill>
                <a:latin typeface="Times New Roman"/>
              </a:rPr>
              <a:t>ML fluency = knowing when AI is wrong</a:t>
            </a:r>
            <a:endParaRPr lang="en-US" sz="1100" dirty="0">
              <a:latin typeface="Times New Roman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4349FF2-9EF4-60FA-02D9-28D015B65A25}"/>
              </a:ext>
            </a:extLst>
          </p:cNvPr>
          <p:cNvGrpSpPr/>
          <p:nvPr/>
        </p:nvGrpSpPr>
        <p:grpSpPr>
          <a:xfrm>
            <a:off x="358265" y="1101775"/>
            <a:ext cx="8253584" cy="3857869"/>
            <a:chOff x="365760" y="1005840"/>
            <a:chExt cx="8412480" cy="4261104"/>
          </a:xfrm>
        </p:grpSpPr>
        <p:sp>
          <p:nvSpPr>
            <p:cNvPr id="5" name="Text 3"/>
            <p:cNvSpPr/>
            <p:nvPr/>
          </p:nvSpPr>
          <p:spPr>
            <a:xfrm>
              <a:off x="365760" y="1005840"/>
              <a:ext cx="8229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C5B"/>
                  </a:solidFill>
                  <a:latin typeface="Times New Roman"/>
                </a:rPr>
                <a:t>🔍 AI Critique Exercise</a:t>
              </a:r>
              <a:endParaRPr lang="en-US" sz="1200" dirty="0">
                <a:latin typeface="Times New Roman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365760" y="1325880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i="1" dirty="0">
                  <a:solidFill>
                    <a:srgbClr val="334155"/>
                  </a:solidFill>
                  <a:latin typeface="Times New Roman"/>
                </a:rPr>
                <a:t>A student asked an AI: "My decision tree has training R² = 0.91 and test R² = 0.02. What is wrong?"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365760" y="1691640"/>
              <a:ext cx="4023360" cy="1600200"/>
            </a:xfrm>
            <a:prstGeom prst="rect">
              <a:avLst/>
            </a:prstGeom>
            <a:solidFill>
              <a:srgbClr val="FFF1F2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365760" y="1691640"/>
              <a:ext cx="4023360" cy="329184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365760" y="1691640"/>
              <a:ext cx="40233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/>
                </a:rPr>
                <a:t>🤖  AI-Generated Answer (Wrong)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502920" y="2084832"/>
              <a:ext cx="3749040" cy="11155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00" i="1" dirty="0">
                  <a:solidFill>
                    <a:srgbClr val="7F1D1D"/>
                  </a:solidFill>
                  <a:latin typeface="Times New Roman"/>
                </a:rPr>
                <a:t>"Decision trees perform poorly on financial data because they use non-parametric methods. Non-parametric methods assume nothing about the distribution of the data, which makes them less effective for time-series problems where past patterns tend to repeat."</a:t>
              </a:r>
              <a:endParaRPr lang="en-US" sz="1200" dirty="0">
                <a:latin typeface="Times New Roman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4663440" y="1691640"/>
              <a:ext cx="4114800" cy="1600200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4663440" y="1691640"/>
              <a:ext cx="4114800" cy="329184"/>
            </a:xfrm>
            <a:prstGeom prst="rect">
              <a:avLst/>
            </a:prstGeom>
            <a:solidFill>
              <a:srgbClr val="16A34A"/>
            </a:solidFill>
            <a:ln w="127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4663440" y="1691640"/>
              <a:ext cx="41148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imes New Roman"/>
                </a:rPr>
                <a:t>✅  Correct Explanation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4800600" y="2084832"/>
              <a:ext cx="3840480" cy="11155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14532D"/>
                  </a:solidFill>
                  <a:latin typeface="Times New Roman"/>
                </a:rPr>
                <a:t>The problem is overfitting. Training R²=0.91, test R²=0.02 are classic symptoms: the tree memorised training noise rather than learning a generalisable pattern. The non-parametric claim is wrong — Random Forests and GBM are also non-parametric and work well.</a:t>
              </a:r>
              <a:endParaRPr lang="en-US" sz="1200" dirty="0">
                <a:latin typeface="Times New Roman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365760" y="3410712"/>
              <a:ext cx="84124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2C5B"/>
                  </a:solidFill>
                  <a:latin typeface="Times New Roman"/>
                </a:rPr>
                <a:t>Three fixes for an overfitting decision tree: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365760" y="3712464"/>
              <a:ext cx="2651760" cy="15544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502920" y="3803904"/>
              <a:ext cx="384048" cy="384048"/>
            </a:xfrm>
            <a:prstGeom prst="ellipse">
              <a:avLst/>
            </a:prstGeom>
            <a:solidFill>
              <a:srgbClr val="16A34A"/>
            </a:solidFill>
            <a:ln w="127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502920" y="3803904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/>
                </a:rPr>
                <a:t>①</a:t>
              </a:r>
              <a:endParaRPr lang="en-US" sz="1200" dirty="0">
                <a:latin typeface="Times New Roman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1005840" y="3822192"/>
              <a:ext cx="1874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2C5B"/>
                  </a:solidFill>
                  <a:latin typeface="Times New Roman"/>
                </a:rPr>
                <a:t>Constrain max_depth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502920" y="4261104"/>
              <a:ext cx="2377440" cy="256032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548640" y="4261104"/>
              <a:ext cx="2331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6EFAC"/>
                  </a:solidFill>
                  <a:ea typeface="Consolas" pitchFamily="34" charset="-122"/>
                  <a:cs typeface="Consolas" pitchFamily="34" charset="-120"/>
                </a:rPr>
                <a:t>DecisionTreeRegressor(max_depth=3)</a:t>
              </a:r>
              <a:endParaRPr lang="en-US" sz="900" dirty="0">
                <a:latin typeface="Times New Roman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502920" y="4572000"/>
              <a:ext cx="237744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334155"/>
                  </a:solidFill>
                  <a:latin typeface="Times New Roman"/>
                </a:rPr>
                <a:t>Limit tree growth so it cannot memorise individual training points.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3200400" y="3712464"/>
              <a:ext cx="2651760" cy="15544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22"/>
            <p:cNvSpPr/>
            <p:nvPr/>
          </p:nvSpPr>
          <p:spPr>
            <a:xfrm>
              <a:off x="3337560" y="3803904"/>
              <a:ext cx="384048" cy="384048"/>
            </a:xfrm>
            <a:prstGeom prst="ellipse">
              <a:avLst/>
            </a:prstGeom>
            <a:solidFill>
              <a:srgbClr val="16A34A"/>
            </a:solidFill>
            <a:ln w="127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3337560" y="3803904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/>
                </a:rPr>
                <a:t>②</a:t>
              </a:r>
              <a:endParaRPr lang="en-US" sz="1200" dirty="0">
                <a:latin typeface="Times New Roman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3840480" y="3822192"/>
              <a:ext cx="1874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2C5B"/>
                  </a:solidFill>
                  <a:latin typeface="Times New Roman"/>
                </a:rPr>
                <a:t>Cross-validate depth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3337560" y="4261104"/>
              <a:ext cx="2377440" cy="256032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3383280" y="4261104"/>
              <a:ext cx="2331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6EFAC"/>
                  </a:solidFill>
                  <a:ea typeface="Consolas" pitchFamily="34" charset="-122"/>
                  <a:cs typeface="Consolas" pitchFamily="34" charset="-120"/>
                </a:rPr>
                <a:t>GridSearchCV(tree, {'max_depth': range(2,10)})</a:t>
              </a:r>
              <a:endParaRPr lang="en-US" sz="900" dirty="0">
                <a:latin typeface="Times New Roman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3337560" y="4572000"/>
              <a:ext cx="237744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334155"/>
                  </a:solidFill>
                  <a:latin typeface="Times New Roman"/>
                </a:rPr>
                <a:t>Select optimal depth on a held-out validation set, not the test set.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6035040" y="3712464"/>
              <a:ext cx="2651760" cy="15544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29"/>
            <p:cNvSpPr/>
            <p:nvPr/>
          </p:nvSpPr>
          <p:spPr>
            <a:xfrm>
              <a:off x="6172200" y="3803904"/>
              <a:ext cx="384048" cy="384048"/>
            </a:xfrm>
            <a:prstGeom prst="ellipse">
              <a:avLst/>
            </a:prstGeom>
            <a:solidFill>
              <a:srgbClr val="16A34A"/>
            </a:solidFill>
            <a:ln w="127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6172200" y="3803904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/>
                </a:rPr>
                <a:t>③</a:t>
              </a:r>
              <a:endParaRPr lang="en-US" sz="1200" dirty="0">
                <a:latin typeface="Times New Roman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6675120" y="3822192"/>
              <a:ext cx="1874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2C5B"/>
                  </a:solidFill>
                  <a:latin typeface="Times New Roman"/>
                </a:rPr>
                <a:t>Use ensemble methods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6172200" y="4261104"/>
              <a:ext cx="2377440" cy="256032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33"/>
            <p:cNvSpPr/>
            <p:nvPr/>
          </p:nvSpPr>
          <p:spPr>
            <a:xfrm>
              <a:off x="6217920" y="4261104"/>
              <a:ext cx="2331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6EFAC"/>
                  </a:solidFill>
                  <a:ea typeface="Consolas" pitchFamily="34" charset="-122"/>
                  <a:cs typeface="Consolas" pitchFamily="34" charset="-120"/>
                </a:rPr>
                <a:t>GradientBoostingRegressor(n_estimators=100)</a:t>
              </a:r>
              <a:endParaRPr lang="en-US" sz="900" dirty="0">
                <a:latin typeface="Times New Roman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6172200" y="4572000"/>
              <a:ext cx="237744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334155"/>
                  </a:solidFill>
                  <a:latin typeface="Times New Roman"/>
                </a:rPr>
                <a:t>Many shallow trees combined — same non-parametric flexibility, far less variance.</a:t>
              </a:r>
              <a:endParaRPr lang="en-US" sz="1100" dirty="0"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8976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/>
              </a:rPr>
              <a:t>Where This Research Is Heading</a:t>
            </a:r>
            <a:endParaRPr lang="en-US" sz="2200" dirty="0">
              <a:latin typeface="Poppin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7"/>
                </a:solidFill>
                <a:latin typeface="Times New Roman"/>
              </a:rPr>
              <a:t>Beyond GKX (2020) — the frontier of financial ML</a:t>
            </a:r>
            <a:endParaRPr lang="en-US" sz="1100" dirty="0">
              <a:latin typeface="Times New Roman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FB9EB72-1284-60C1-809E-2CD3A35951B1}"/>
              </a:ext>
            </a:extLst>
          </p:cNvPr>
          <p:cNvGrpSpPr/>
          <p:nvPr/>
        </p:nvGrpSpPr>
        <p:grpSpPr>
          <a:xfrm>
            <a:off x="359014" y="1024128"/>
            <a:ext cx="8690272" cy="3946910"/>
            <a:chOff x="365760" y="1024128"/>
            <a:chExt cx="8676358" cy="4279392"/>
          </a:xfrm>
        </p:grpSpPr>
        <p:sp>
          <p:nvSpPr>
            <p:cNvPr id="5" name="Shape 3"/>
            <p:cNvSpPr/>
            <p:nvPr/>
          </p:nvSpPr>
          <p:spPr>
            <a:xfrm>
              <a:off x="365760" y="1024128"/>
              <a:ext cx="8412480" cy="10789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365760" y="1024128"/>
              <a:ext cx="54864" cy="1078992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548640" y="1097280"/>
              <a:ext cx="8046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2563EB"/>
                  </a:solidFill>
                  <a:latin typeface="Times New Roman"/>
                </a:rPr>
                <a:t>Gu, Kelly &amp; Xiu (2021)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548640" y="1298448"/>
              <a:ext cx="8046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2C5B"/>
                  </a:solidFill>
                  <a:latin typeface="Times New Roman"/>
                </a:rPr>
                <a:t>"Autoencoder Asset Pricing Models" — Journal of Econometrics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548640" y="1591056"/>
              <a:ext cx="80467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334155"/>
                  </a:solidFill>
                  <a:latin typeface="Times New Roman"/>
                </a:rPr>
                <a:t>Extends GKX using deep autoencoders to learn latent risk factors directly from data — replacing hand-crafted FF5/HXZ factors with data-learned representations.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365760" y="2212848"/>
              <a:ext cx="8412480" cy="10789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365760" y="2212848"/>
              <a:ext cx="54864" cy="1078992"/>
            </a:xfrm>
            <a:prstGeom prst="rect">
              <a:avLst/>
            </a:prstGeom>
            <a:solidFill>
              <a:srgbClr val="16A34A"/>
            </a:solidFill>
            <a:ln w="127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548640" y="2286000"/>
              <a:ext cx="8046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6A34A"/>
                  </a:solidFill>
                  <a:latin typeface="Times New Roman"/>
                </a:rPr>
                <a:t>Kozak, Nagel &amp; Santosh (2020)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548640" y="2487168"/>
              <a:ext cx="8046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2C5B"/>
                  </a:solidFill>
                  <a:latin typeface="Times New Roman"/>
                </a:rPr>
                <a:t>"Shrinking the Cross-Section" — Journal of Financial Economics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548640" y="2779776"/>
              <a:ext cx="80467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334155"/>
                  </a:solidFill>
                  <a:latin typeface="Times New Roman"/>
                </a:rPr>
                <a:t>Shows that the factor zoo can be compressed to a few principal components using Bayesian regularisation — bridging ML and structural asset pricing.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365760" y="3401568"/>
              <a:ext cx="8412480" cy="10789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4"/>
            <p:cNvSpPr/>
            <p:nvPr/>
          </p:nvSpPr>
          <p:spPr>
            <a:xfrm>
              <a:off x="365760" y="3401568"/>
              <a:ext cx="54864" cy="1078992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548640" y="3474720"/>
              <a:ext cx="80467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7C3AED"/>
                  </a:solidFill>
                  <a:latin typeface="Times New Roman"/>
                </a:rPr>
                <a:t>Chen, Pelger &amp; Zhu (2024)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548640" y="3675888"/>
              <a:ext cx="8046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2C5B"/>
                  </a:solidFill>
                  <a:latin typeface="Times New Roman"/>
                </a:rPr>
                <a:t>"Deep Learning in Asset Pricing" — Management Science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548640" y="3968496"/>
              <a:ext cx="80467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334155"/>
                  </a:solidFill>
                  <a:latin typeface="Times New Roman"/>
                </a:rPr>
                <a:t>Uses deep neural networks to learn the stochastic discount factor directly — a theoretically grounded approach versus the GKX prediction framework.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365760" y="4645152"/>
              <a:ext cx="4069080" cy="65836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571500" y="4631477"/>
              <a:ext cx="36576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2C5B"/>
                  </a:solidFill>
                  <a:latin typeface="Times New Roman"/>
                </a:rPr>
                <a:t>Industry Leaders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463789" y="4948372"/>
              <a:ext cx="36576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100" dirty="0">
                  <a:solidFill>
                    <a:srgbClr val="334155"/>
                  </a:solidFill>
                  <a:latin typeface="Times New Roman"/>
                </a:rPr>
                <a:t>Two Sigma · Renaissance Technologies (Medallion) · Man AHL · WorldQuant · Acadian</a:t>
              </a:r>
              <a:endParaRPr lang="en-US" sz="1100" dirty="0">
                <a:latin typeface="Times New Roman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4709160" y="4645152"/>
              <a:ext cx="4069080" cy="658368"/>
            </a:xfrm>
            <a:prstGeom prst="rect">
              <a:avLst/>
            </a:prstGeom>
            <a:solidFill>
              <a:srgbClr val="EFF6FF"/>
            </a:solidFill>
            <a:ln w="1016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22"/>
            <p:cNvSpPr/>
            <p:nvPr/>
          </p:nvSpPr>
          <p:spPr>
            <a:xfrm>
              <a:off x="4709160" y="4645152"/>
              <a:ext cx="45720" cy="658368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5293078" y="4645152"/>
              <a:ext cx="3749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563EB"/>
                  </a:solidFill>
                  <a:latin typeface="Times New Roman"/>
                </a:rPr>
                <a:t>Leo's Research — NLP in Finance</a:t>
              </a:r>
              <a:endParaRPr lang="en-US" sz="1300" dirty="0">
                <a:latin typeface="Times New Roman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4869179" y="4896611"/>
              <a:ext cx="3749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050" dirty="0">
                  <a:solidFill>
                    <a:srgbClr val="1E3A8A"/>
                  </a:solidFill>
                  <a:latin typeface="Times New Roman"/>
                </a:rPr>
                <a:t>Text-based factors from earnings calls, 10-K filings, news articles. Interested in FinTech/textual analysis for thesis or PhD? Come talk!</a:t>
              </a:r>
              <a:endParaRPr lang="en-US" sz="1050" dirty="0"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4326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3"/>
            <a:extLst>
              <a:ext uri="{FF2B5EF4-FFF2-40B4-BE49-F238E27FC236}">
                <a16:creationId xmlns:a16="http://schemas.microsoft.com/office/drawing/2014/main" id="{1ED00911-3E20-666A-EE6C-EEA202DB8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57261"/>
            <a:ext cx="7772400" cy="422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725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457200"/>
            <a:ext cx="5029200" cy="50292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/>
              </a:rPr>
              <a:t>Key Takeaways</a:t>
            </a:r>
            <a:endParaRPr lang="en-US" sz="3000" dirty="0">
              <a:latin typeface="Poppin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3716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16733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7"/>
                </a:solidFill>
                <a:latin typeface="Times New Roman"/>
              </a:rPr>
              <a:t>AI ⊃ ML ⊃ Deep Learning. ML = models that learn functional form from data, not from researcher specification</a:t>
            </a:r>
            <a:endParaRPr lang="en-US" sz="1300" dirty="0">
              <a:latin typeface="Times New Roma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9264" y="21762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7"/>
                </a:solidFill>
                <a:latin typeface="Times New Roman"/>
              </a:rPr>
              <a:t>Finance has 9 structural obstacles for ML — the hardest is the signal-to-noise ratio of ~0.03 (97% noise)</a:t>
            </a:r>
            <a:endParaRPr lang="en-US" sz="1300" dirty="0">
              <a:latin typeface="Times New Roma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9264" y="26791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7"/>
                </a:solidFill>
                <a:latin typeface="Times New Roman"/>
              </a:rPr>
              <a:t>The ML pipeline: Load → Features → Train/Test split → Fit → Predict → Evaluate. Test data never leaks into training</a:t>
            </a:r>
            <a:endParaRPr lang="en-US" sz="1300" dirty="0">
              <a:latin typeface="Times New Roma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9264" y="31821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7"/>
                </a:solidFill>
                <a:latin typeface="Times New Roman"/>
              </a:rPr>
              <a:t>Bias-variance tradeoff: in finance, optimal complexity is very low — simple models win because noise dominates</a:t>
            </a:r>
            <a:endParaRPr lang="en-US" sz="1300" dirty="0">
              <a:latin typeface="Times New Roman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9264" y="36850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7"/>
                </a:solidFill>
                <a:latin typeface="Times New Roman"/>
              </a:rPr>
              <a:t>GKX (2020): trees and NNs beat OLS; the advantage traces to non-linear interactions; dominant signals = momentum, liquidity, volatility</a:t>
            </a:r>
            <a:endParaRPr lang="en-US" sz="1300" dirty="0">
              <a:latin typeface="Times New Roman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9264" y="41879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7"/>
                </a:solidFill>
                <a:latin typeface="Times New Roman"/>
              </a:rPr>
              <a:t>Critical evaluation matters: AI-generated ML explanations are often wrong. Know enough to spot the errors</a:t>
            </a:r>
            <a:endParaRPr lang="en-US" sz="1300" dirty="0">
              <a:latin typeface="Times New Roman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Times New Roman"/>
              </a:rPr>
              <a:t>Colab notebook: bit.ly/fin361-topic14  ·  GitHub: github.com/Leonop/FINANCE-361-S1-2026</a:t>
            </a:r>
            <a:endParaRPr lang="en-US" sz="11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22004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C186F1A-FF9D-ED48-B0B8-B0657BDAC8A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b5ec5485-f79a-4d38-83ed-55c048f0409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2939</Words>
  <Application>Microsoft Macintosh PowerPoint</Application>
  <PresentationFormat>On-screen Show (16:9)</PresentationFormat>
  <Paragraphs>311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Consolas</vt:lpstr>
      <vt:lpstr>Poppins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361 — Topic 14: Financial Machine Learning</dc:title>
  <dc:subject>PptxGenJS Presentation</dc:subject>
  <dc:creator>Dr. Zicheng (Leo) Xiao</dc:creator>
  <cp:lastModifiedBy>Leo Xiao</cp:lastModifiedBy>
  <cp:revision>10</cp:revision>
  <dcterms:created xsi:type="dcterms:W3CDTF">2026-05-03T14:38:13Z</dcterms:created>
  <dcterms:modified xsi:type="dcterms:W3CDTF">2026-05-08T00:32:20Z</dcterms:modified>
</cp:coreProperties>
</file>