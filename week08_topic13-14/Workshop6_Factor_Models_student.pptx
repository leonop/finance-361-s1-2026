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5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/>
    <p:restoredTop sz="76986"/>
  </p:normalViewPr>
  <p:slideViewPr>
    <p:cSldViewPr snapToGrid="0" snapToObjects="1">
      <p:cViewPr varScale="1">
        <p:scale>
          <a:sx n="128" d="100"/>
          <a:sy n="128" d="100"/>
        </p:scale>
        <p:origin x="14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241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A8C5E8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FINANCE 361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Workshop 6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D6E4F7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Factor Models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9CC8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Topics 13 &amp; 14 – Factor Models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4568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Q1  -  Q6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16459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Carhart (1997) 4-Factor Regressions – Portfolios A–E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95360" cy="0"/>
          </a:xfrm>
          <a:prstGeom prst="line">
            <a:avLst/>
          </a:prstGeom>
          <a:noFill/>
          <a:ln w="1905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The table below contains regressions of the excess returns of 5 portfolios (A–E) on the Carhart 4-factor model.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20040" y="1143000"/>
          <a:ext cx="8595360" cy="320954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(1) 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(2) 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(3) 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(4) 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(5) 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MktRF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1.0597***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(35.05)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0.9416***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(21.38)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1.0604***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(34.65)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1.0446***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(48.99)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0.9551***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(39.73)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0.7098***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(14.12)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0.9794***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(13.38)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0.8277***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(16.27)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−0.8557***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(−5.57)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−0.6167***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(−4.92)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HML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0.7212***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(5.35)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−0.7083***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(−6.24)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−0.6518***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(−4.14)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0.7830***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(4.32)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1.288***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(8.38)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UMD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0.1572***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(4.34)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0.0935*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(1.77)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0.0530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(1.44)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0.0278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(1.09)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0.0092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(0.32)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_cons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−0.1305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(−1.22)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−0.0026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(−0.02)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−0.0569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(−0.53)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−0.2534***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(−3.36)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−0.1030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(−1.21)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0.9719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0.9437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0.9743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0.9785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0.9671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t-statistics in parentheses   * p &lt; 0.10   ** p &lt; 0.05   *** p &lt; 0.01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681146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Q1  ·  Required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16459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Fund Management Style Matrix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95360" cy="0"/>
          </a:xfrm>
          <a:prstGeom prst="line">
            <a:avLst/>
          </a:prstGeom>
          <a:noFill/>
          <a:ln w="1905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In fund management, "style" refers to a combination of exposure to risk factors. Each cell below represents a named investment style.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97280" y="1261872"/>
          <a:ext cx="6949440" cy="1316736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 rtl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Small Size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Large Size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High B/M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/>
                        </a:rPr>
                        <a:t>Small Value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/>
                        </a:rPr>
                        <a:t>Big Value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Low B/M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/>
                        </a:rPr>
                        <a:t>Small Growth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/>
                        </a:rPr>
                        <a:t>Big Growth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B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677995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Required: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2952315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Indicate the style of each of the five portfolios (A–E) by ticking the appropriate box.  [5 Marks]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/>
        </p:nvGraphicFramePr>
        <p:xfrm>
          <a:off x="320040" y="3363795"/>
          <a:ext cx="8595360" cy="1645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Portfolio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Small Value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Small Growth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Big Value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Big Growth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6883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Q1  ·  Answer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16459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Portfolio Style Classification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95360" cy="0"/>
          </a:xfrm>
          <a:prstGeom prst="line">
            <a:avLst/>
          </a:prstGeom>
          <a:noFill/>
          <a:ln w="1905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Use the sign of SMB and HML coefficients to determine size and value style: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SMB &gt; 0  →  Small  |  SMB &lt; 0  →  Large (Big)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HML &gt; 0  →  Value  |  HML &lt; 0  →  Growth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320040" y="1645920"/>
          <a:ext cx="8595360" cy="17983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Portfolio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Small Value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Small Growth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Big Value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Big Growth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/>
                        </a:rPr>
                        <a:t>A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8F4E"/>
                          </a:solidFill>
                          <a:latin typeface="Poppins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/>
                        </a:rPr>
                        <a:t>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8F4E"/>
                          </a:solidFill>
                          <a:latin typeface="Poppins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/>
                        </a:rPr>
                        <a:t>C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8F4E"/>
                          </a:solidFill>
                          <a:latin typeface="Poppins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/>
                        </a:rPr>
                        <a:t>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8F4E"/>
                          </a:solidFill>
                          <a:latin typeface="Poppins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Times New Roman"/>
                        </a:rPr>
                        <a:t>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8F4E"/>
                          </a:solidFill>
                          <a:latin typeface="Poppins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20040" y="3657600"/>
            <a:ext cx="8595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>
              <a:lnSpc>
                <a:spcPct val="150000"/>
              </a:lnSpc>
              <a:buSzPct val="100000"/>
            </a:pPr>
            <a:r>
              <a:rPr lang="en-US" sz="11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A:  SMB = +0.71, HML = +0.72  →  Small (+), Value (+)   →  Small Value</a:t>
            </a:r>
            <a:endParaRPr lang="en-US" sz="1100" dirty="0"/>
          </a:p>
          <a:p>
            <a:pPr lvl="1">
              <a:lnSpc>
                <a:spcPct val="150000"/>
              </a:lnSpc>
              <a:buSzPct val="100000"/>
            </a:pPr>
            <a:r>
              <a:rPr lang="en-US" sz="11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B:  SMB = +0.98, HML = −0.71  →  Small (+), Growth (−)  →  Small Growth</a:t>
            </a:r>
            <a:endParaRPr lang="en-US" sz="1100" dirty="0"/>
          </a:p>
          <a:p>
            <a:pPr lvl="1">
              <a:lnSpc>
                <a:spcPct val="150000"/>
              </a:lnSpc>
              <a:buSzPct val="100000"/>
            </a:pPr>
            <a:r>
              <a:rPr lang="en-US" sz="11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C:  SMB = +0.83, HML = −0.65  →  Small (+), Growth (−)  →  Small Growth</a:t>
            </a:r>
            <a:endParaRPr lang="en-US" sz="1100" dirty="0"/>
          </a:p>
          <a:p>
            <a:pPr lvl="1">
              <a:lnSpc>
                <a:spcPct val="150000"/>
              </a:lnSpc>
              <a:buSzPct val="100000"/>
            </a:pPr>
            <a:r>
              <a:rPr lang="en-US" sz="11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D:  SMB = −0.86, HML = +0.78  →  Large (−), Value (+)   →  Big Value</a:t>
            </a:r>
            <a:endParaRPr lang="en-US" sz="1100" dirty="0"/>
          </a:p>
          <a:p>
            <a:pPr lvl="1">
              <a:lnSpc>
                <a:spcPct val="150000"/>
              </a:lnSpc>
              <a:buSzPct val="100000"/>
            </a:pPr>
            <a:r>
              <a:rPr lang="en-US" sz="11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E:  SMB = −0.62, HML = +1.29  →  Large (−), Value (+)   →  Big Value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90453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16459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Fama–French (2015) 5-Factor Model – chca_10m1 Hedge Portfolio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95360" cy="0"/>
          </a:xfrm>
          <a:prstGeom prst="line">
            <a:avLst/>
          </a:prstGeom>
          <a:noFill/>
          <a:ln w="1905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Dependent variable: chca_10m1 (long decile 10, short decile 1 sorted on Δcurrent assets). Daily data.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170432"/>
            <a:ext cx="1627632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12,334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152704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Obs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39112" y="1170432"/>
            <a:ext cx="1627632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39112" y="118872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1,510.69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39112" y="152704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F(5, 12328)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58184" y="1170432"/>
            <a:ext cx="1627632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58184" y="118872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0.3799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58184" y="152704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77256" y="1170432"/>
            <a:ext cx="1627632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77256" y="118872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0.3797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77256" y="152704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Adj R²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96328" y="1170432"/>
            <a:ext cx="1627632" cy="658368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96328" y="1188720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0.0059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96328" y="1527048"/>
            <a:ext cx="1627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Root MSE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320040" y="1920240"/>
          <a:ext cx="7680960" cy="230428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Variable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Coef.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Std. Err.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P&gt;|t|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[95% CI Lower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Upper]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MKTRF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0.0382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0.0059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6.47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0.0266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−0.0262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0.0108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−2.43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−0.0473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−0.0051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HML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−0.1009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0.0126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−8.01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−0.1256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−0.0762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RMW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−0.0970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0.0153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−6.33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−0.1271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−0.0670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CMA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−1.1082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0.0183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−60.62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−1.1441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−1.0724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_cons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0.0000441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0.408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320040" y="44805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Note: _cons = daily FF5 alpha of the strategy   |   Prob&gt;F = 0.0000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802206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Q2  ·  Answers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16459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FF5 Alpha Interpretation – chca_10m1 Strategy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95360" cy="0"/>
          </a:xfrm>
          <a:prstGeom prst="line">
            <a:avLst/>
          </a:prstGeom>
          <a:noFill/>
          <a:ln w="1905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a) Daily FF5 alpha?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8595360" cy="50292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078992"/>
            <a:ext cx="83210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0.0000441 per day  (the intercept _cons)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6184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b) Significant at 5%?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92808"/>
            <a:ext cx="8595360" cy="50292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1920240"/>
            <a:ext cx="83210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No. P-value = 0.408 &gt;&gt; 0.05. We fail to reject H₀: α = 0.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" y="245973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c) Variation left unexplained?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734056"/>
            <a:ext cx="8595360" cy="50292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2761488"/>
            <a:ext cx="83210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62.01%   =  1 − R² = 1 − 0.3799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20040" y="330098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d) Which factor explains most?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575304"/>
            <a:ext cx="859536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8912" y="3602736"/>
            <a:ext cx="83210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CMA (Conservative-Minus-Aggressive): t = −60.62, by far the largest t-statistic in absolute value. Strategy strongly co-varies negatively with aggressive-investing firms.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0040" y="414223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e) Co-varies positively or negatively with low-profitability firms?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4416552"/>
            <a:ext cx="8595360" cy="50292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8912" y="4443984"/>
            <a:ext cx="83210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Positively. RMW = Robust − Weak, so β_RMW &lt; 0 means the strategy moves in the same direction as Weak (low-profitability) firms.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4291271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Q3  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16459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Six Factor Model Regressions – Hedge Portfolio on Characteristic X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95360" cy="0"/>
          </a:xfrm>
          <a:prstGeom prst="line">
            <a:avLst/>
          </a:prstGeom>
          <a:noFill/>
          <a:ln w="1905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Monthly long-short hedge portfolio (top 10% − bottom 10% on characteristic X). Independent variables: mktrf, smb, hml, umd, rmw, cma. t-stats in parentheses.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320040" y="1188720"/>
          <a:ext cx="8595360" cy="36754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321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sizebook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FF3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FF4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FF5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mktrf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0.1198**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(1.99)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0.1061**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(2.17)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0.0479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(1.27)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0.1326**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(2.41)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0.5374***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(4.14)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0.5019***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(3.97)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0.4876***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(5.20)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0.5061***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(4.80)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3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hml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0.4332***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(4.31)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0.4700***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(4.47)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0.3485***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(4.64)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0.5646***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(3.64)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umd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−0.3706***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(−5.17)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3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rmw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0.0062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(0.04)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3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cma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−0.0638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(−0.35)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2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Const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0.0159***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(9.73)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0.0152***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(9.57)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0.0134***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(10.50)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0.0127***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(10.06)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0.0162***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(10.97)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0.0134***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(7.46)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3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Adj R²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0.0194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0.2329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0.2462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0.4021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0.2653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37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756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756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756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756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756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618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*,** and *** imply 10, 5 and 1% statistical significance, respectively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57508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Q3 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16459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Hedge Portfolio – Alpha, Covariation &amp; R²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95360" cy="0"/>
          </a:xfrm>
          <a:prstGeom prst="line">
            <a:avLst/>
          </a:prstGeom>
          <a:noFill/>
          <a:ln w="1905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a) Annualised CAPM alpha earned by the hedge portfolio?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042416"/>
            <a:ext cx="8595360" cy="91440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078992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Monthly CAPM alpha (Const from regression 2) = 0.0152  →  Annualise using compounding: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(1 + 0.0152)¹² − 1 = </a:t>
            </a: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19.84%  per annum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057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b) Co-variation with big stocks and high book-to-market? (Regression 3)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50008"/>
            <a:ext cx="8595360" cy="749808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368296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SMB = +0.5374  →  portfolio tilts toward small stocks  →  </a:t>
            </a: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covaries negatively with big stocks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HML = +0.4332  →  tilts toward high book-to-market  →  </a:t>
            </a: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covaries positively with high B/M stocks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200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c) Variation unexplained by Fama–French 3-Factor Model?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493008"/>
            <a:ext cx="8595360" cy="91440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8912" y="3529584"/>
            <a:ext cx="8321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Use FF3 model = Regression (4)   →   Adj R² = 0.2462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Unexplained = 1 − Adj R²  =  1 − 0.2462  =  </a:t>
            </a: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75.38%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26156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Q3  ·  Answers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463040" y="16459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Standard Error &amp; 95% Confidence Interval of rmw (Regression 6)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8595360" cy="0"/>
          </a:xfrm>
          <a:prstGeom prst="line">
            <a:avLst/>
          </a:prstGeom>
          <a:noFill/>
          <a:ln w="1905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d) Standard error of rmw coefficient in regression (6)?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042416"/>
            <a:ext cx="8595360" cy="711433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069848"/>
            <a:ext cx="8321040" cy="588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Use t-statistic formula:    t = (β̂ − 0) / SE(β̂)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  →  SE(β̂) = β̂ / t  =  0.0062 / 0.04  =  </a:t>
            </a: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0.155</a:t>
            </a:r>
            <a:endParaRPr lang="en-US" sz="1200" dirty="0"/>
          </a:p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  where β̂ = 0.0062  and  t-stat = 0.04  (from regression 6 rmw row)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08663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Poppins" pitchFamily="34" charset="0"/>
                <a:ea typeface="Calibri" pitchFamily="34" charset="-122"/>
                <a:cs typeface="Calibri" pitchFamily="34" charset="-120"/>
              </a:rPr>
              <a:t>e) 95% Confidence Interval of rmw coefficient in regression (6)?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2379238"/>
            <a:ext cx="8595360" cy="912601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" y="2415814"/>
            <a:ext cx="8321040" cy="852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Formula:   β̂ ± z* × SE(β̂)   where z* = 1.96 for 95% CI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  Lower: 0.0062 − (1.96 × 0.155)  =  0.0062 − 0.3038  =  </a:t>
            </a: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−0.2976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  Upper: 0.0062 + (1.96 × 0.155)  =  0.0062 + 0.3038  =  </a:t>
            </a: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+0.3100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D6A9F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  95% CI:  [−0.2976,  +0.3100]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08391" y="346737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Times New Roman" pitchFamily="34" charset="0"/>
                <a:ea typeface="Calibri" pitchFamily="34" charset="-122"/>
                <a:cs typeface="Calibri" pitchFamily="34" charset="-120"/>
              </a:rPr>
              <a:t>z-table reference: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3775273" y="3898941"/>
          <a:ext cx="1645920" cy="97536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CI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z*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1.645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1.960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Times New Roman" pitchFamily="34" charset="0"/>
                          <a:ea typeface="Calibri" pitchFamily="34" charset="-122"/>
                          <a:cs typeface="Calibri" pitchFamily="34" charset="-120"/>
                        </a:rPr>
                        <a:t>2.576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C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000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7965BE7-8052-1C4A-8D9E-3A8692E79A3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393398b-4155-427c-a020-59abd32f4d3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1320</Words>
  <Application>Microsoft Macintosh PowerPoint</Application>
  <PresentationFormat>On-screen Show (16:9)</PresentationFormat>
  <Paragraphs>322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361 Workshop 6 – Factor Models</dc:title>
  <dc:subject>PptxGenJS Presentation</dc:subject>
  <dc:creator>PptxGenJS</dc:creator>
  <cp:lastModifiedBy>Leo Xiao</cp:lastModifiedBy>
  <cp:revision>6</cp:revision>
  <dcterms:created xsi:type="dcterms:W3CDTF">2026-05-06T01:43:34Z</dcterms:created>
  <dcterms:modified xsi:type="dcterms:W3CDTF">2026-05-08T00:29:45Z</dcterms:modified>
</cp:coreProperties>
</file>